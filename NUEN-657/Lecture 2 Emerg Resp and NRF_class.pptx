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04" r:id="rId3"/>
    <p:sldId id="265" r:id="rId4"/>
    <p:sldId id="267" r:id="rId5"/>
    <p:sldId id="268" r:id="rId6"/>
    <p:sldId id="269" r:id="rId7"/>
    <p:sldId id="291" r:id="rId8"/>
    <p:sldId id="272" r:id="rId9"/>
    <p:sldId id="273" r:id="rId10"/>
    <p:sldId id="274" r:id="rId11"/>
    <p:sldId id="292" r:id="rId12"/>
    <p:sldId id="281" r:id="rId13"/>
    <p:sldId id="303" r:id="rId14"/>
    <p:sldId id="300" r:id="rId15"/>
    <p:sldId id="301" r:id="rId1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M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3492" y="10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C6832D26-9896-43A8-BB27-8E505CA3F5EC}" type="datetimeFigureOut">
              <a:rPr lang="en-US" smtClean="0"/>
              <a:t>8/30/2026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B8CC7DB9-5F9A-4F81-AB80-AE01FFE51E03}" type="slidenum">
              <a:rPr lang="en-US" smtClean="0"/>
              <a:t>‹#›</a:t>
            </a:fld>
            <a:endParaRPr lang="en-US"/>
          </a:p>
        </p:txBody>
      </p:sp>
    </p:spTree>
    <p:extLst>
      <p:ext uri="{BB962C8B-B14F-4D97-AF65-F5344CB8AC3E}">
        <p14:creationId xmlns:p14="http://schemas.microsoft.com/office/powerpoint/2010/main" val="169566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FA12034-564E-493F-9C8E-2CB6FD6CAC0D}" type="slidenum">
              <a:rPr lang="en-US" smtClean="0"/>
              <a:t>8</a:t>
            </a:fld>
            <a:endParaRPr lang="en-US"/>
          </a:p>
        </p:txBody>
      </p:sp>
    </p:spTree>
    <p:extLst>
      <p:ext uri="{BB962C8B-B14F-4D97-AF65-F5344CB8AC3E}">
        <p14:creationId xmlns:p14="http://schemas.microsoft.com/office/powerpoint/2010/main" val="335383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FA12034-564E-493F-9C8E-2CB6FD6CAC0D}" type="slidenum">
              <a:rPr lang="en-US" smtClean="0"/>
              <a:t>10</a:t>
            </a:fld>
            <a:endParaRPr lang="en-US"/>
          </a:p>
        </p:txBody>
      </p:sp>
    </p:spTree>
    <p:extLst>
      <p:ext uri="{BB962C8B-B14F-4D97-AF65-F5344CB8AC3E}">
        <p14:creationId xmlns:p14="http://schemas.microsoft.com/office/powerpoint/2010/main" val="711966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FA12034-564E-493F-9C8E-2CB6FD6CAC0D}" type="slidenum">
              <a:rPr lang="en-US" smtClean="0"/>
              <a:t>12</a:t>
            </a:fld>
            <a:endParaRPr lang="en-US"/>
          </a:p>
        </p:txBody>
      </p:sp>
    </p:spTree>
    <p:extLst>
      <p:ext uri="{BB962C8B-B14F-4D97-AF65-F5344CB8AC3E}">
        <p14:creationId xmlns:p14="http://schemas.microsoft.com/office/powerpoint/2010/main" val="813132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B628A21E-2415-47EF-AFB0-482732AB10D0}" type="datetimeFigureOut">
              <a:rPr lang="en-US"/>
              <a:pPr>
                <a:defRPr/>
              </a:pPr>
              <a:t>8/30/2026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2D3C7E3-248E-49CE-A6EB-19600DA0A82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0838ED3-3A78-4D91-88E8-397BAA6E7CA8}" type="datetimeFigureOut">
              <a:rPr lang="en-US"/>
              <a:pPr>
                <a:defRPr/>
              </a:pPr>
              <a:t>8/30/2026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296DB4-2B48-4097-8E4A-D22F89555D8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73A4000-BD9F-4F23-8602-353D9DBB3B7E}" type="datetimeFigureOut">
              <a:rPr lang="en-US"/>
              <a:pPr>
                <a:defRPr/>
              </a:pPr>
              <a:t>8/30/2026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355DD7-9827-4749-B630-B15F9A6D345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DFD48B5A-D1FC-4BCE-89F0-7A7168F7CE63}" type="datetimeFigureOut">
              <a:rPr lang="en-US"/>
              <a:pPr>
                <a:defRPr/>
              </a:pPr>
              <a:t>8/30/2026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D861DCC-43E0-4C6F-982D-740B4467A78D}"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0E3C3E7-6AA0-49A3-96BF-1C3CF3150D3D}" type="datetimeFigureOut">
              <a:rPr lang="en-US"/>
              <a:pPr>
                <a:defRPr/>
              </a:pPr>
              <a:t>8/30/2026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EF44618-18AA-4C8D-9784-5E7E5C7F33E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FDF4381-0BC0-40A6-A3BC-9B060B064BBF}" type="datetimeFigureOut">
              <a:rPr lang="en-US"/>
              <a:pPr>
                <a:defRPr/>
              </a:pPr>
              <a:t>8/30/2026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83A8090-F8D8-4E22-BEAF-5EFF71F567B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BE5F580-0E97-40DE-AA5C-80BD850BAD03}" type="datetimeFigureOut">
              <a:rPr lang="en-US"/>
              <a:pPr>
                <a:defRPr/>
              </a:pPr>
              <a:t>8/30/2026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E00B92C-192A-43A1-AEE2-94C89E2207E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8A6BCB7-247C-498C-8B6E-440C9DC44BA9}" type="datetimeFigureOut">
              <a:rPr lang="en-US"/>
              <a:pPr>
                <a:defRPr/>
              </a:pPr>
              <a:t>8/30/2026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F81A80-2A17-4180-B503-939665AD1F6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7F160EC-FE56-4FF5-8663-B588171A6BC0}" type="datetimeFigureOut">
              <a:rPr lang="en-US"/>
              <a:pPr>
                <a:defRPr/>
              </a:pPr>
              <a:t>8/30/2026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93B186C-75AC-4D3A-9978-F113A1921AE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0AF532A-0046-4500-9DD7-9F0DE3176EFA}" type="datetimeFigureOut">
              <a:rPr lang="en-US"/>
              <a:pPr>
                <a:defRPr/>
              </a:pPr>
              <a:t>8/30/2026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81BA1CF-B4AA-402B-A177-2EF07C0A216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CC031B8-9C25-4496-BAFD-17877B4ABFC2}" type="datetimeFigureOut">
              <a:rPr lang="en-US"/>
              <a:pPr>
                <a:defRPr/>
              </a:pPr>
              <a:t>8/30/2026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DB57E6C-E525-4808-A8CE-D749588DB99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000">
            <a:alpha val="36000"/>
          </a:srgb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BDA4FCC2-8018-4F14-AF7C-960FE5169B3D}" type="datetimeFigureOut">
              <a:rPr lang="en-US"/>
              <a:pPr>
                <a:defRPr/>
              </a:pPr>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52B68326-9E2E-47E4-AC4A-48C5FD98127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1676400"/>
            <a:ext cx="7772400" cy="1470025"/>
          </a:xfrm>
        </p:spPr>
        <p:txBody>
          <a:bodyPr/>
          <a:lstStyle/>
          <a:p>
            <a:pPr eaLnBrk="1" hangingPunct="1"/>
            <a:r>
              <a:rPr lang="en-US" sz="4800" dirty="0"/>
              <a:t>Emergency Response and the NRF</a:t>
            </a:r>
          </a:p>
        </p:txBody>
      </p:sp>
      <p:sp>
        <p:nvSpPr>
          <p:cNvPr id="3" name="Subtitle 2"/>
          <p:cNvSpPr>
            <a:spLocks noGrp="1"/>
          </p:cNvSpPr>
          <p:nvPr>
            <p:ph type="subTitle" idx="1"/>
          </p:nvPr>
        </p:nvSpPr>
        <p:spPr/>
        <p:txBody>
          <a:bodyPr rtlCol="0">
            <a:normAutofit/>
          </a:bodyPr>
          <a:lstStyle/>
          <a:p>
            <a:pPr eaLnBrk="1" fontAlgn="auto" hangingPunct="1">
              <a:spcAft>
                <a:spcPts val="0"/>
              </a:spcAft>
              <a:buFont typeface="Arial" pitchFamily="34" charset="0"/>
              <a:buNone/>
              <a:defRPr/>
            </a:pPr>
            <a:r>
              <a:rPr lang="en-US"/>
              <a:t>NUEN 657</a:t>
            </a:r>
            <a:endParaRPr lang="en-US" dirty="0"/>
          </a:p>
          <a:p>
            <a:pPr eaLnBrk="1" fontAlgn="auto" hangingPunct="1">
              <a:spcAft>
                <a:spcPts val="0"/>
              </a:spcAft>
              <a:buFont typeface="Arial" pitchFamily="34" charset="0"/>
              <a:buNone/>
              <a:defRPr/>
            </a:pPr>
            <a:r>
              <a:rPr lang="en-US" dirty="0"/>
              <a:t>Dr. Craig M. Marianno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8793-8C57-41BA-BFEC-2806E13C793A}"/>
              </a:ext>
            </a:extLst>
          </p:cNvPr>
          <p:cNvSpPr>
            <a:spLocks noGrp="1"/>
          </p:cNvSpPr>
          <p:nvPr>
            <p:ph type="title"/>
          </p:nvPr>
        </p:nvSpPr>
        <p:spPr/>
        <p:txBody>
          <a:bodyPr/>
          <a:lstStyle/>
          <a:p>
            <a:r>
              <a:rPr lang="en-US" dirty="0"/>
              <a:t>Goals for the day</a:t>
            </a:r>
          </a:p>
        </p:txBody>
      </p:sp>
      <p:sp>
        <p:nvSpPr>
          <p:cNvPr id="3" name="Content Placeholder 2">
            <a:extLst>
              <a:ext uri="{FF2B5EF4-FFF2-40B4-BE49-F238E27FC236}">
                <a16:creationId xmlns:a16="http://schemas.microsoft.com/office/drawing/2014/main" id="{06FADD93-61B4-4B43-81B1-8A58F6B8B9EA}"/>
              </a:ext>
            </a:extLst>
          </p:cNvPr>
          <p:cNvSpPr>
            <a:spLocks noGrp="1"/>
          </p:cNvSpPr>
          <p:nvPr>
            <p:ph idx="1"/>
          </p:nvPr>
        </p:nvSpPr>
        <p:spPr/>
        <p:txBody>
          <a:bodyPr/>
          <a:lstStyle/>
          <a:p>
            <a:r>
              <a:rPr lang="en-US" sz="2400" dirty="0"/>
              <a:t>Basic understanding of what is needed and why during a response</a:t>
            </a:r>
          </a:p>
          <a:p>
            <a:r>
              <a:rPr lang="en-US" sz="2400" dirty="0"/>
              <a:t>Get an idea of the history of response plans</a:t>
            </a:r>
          </a:p>
          <a:p>
            <a:r>
              <a:rPr lang="en-US" sz="2400" dirty="0"/>
              <a:t>Introduce you to the National Response Framework (NRF)</a:t>
            </a:r>
          </a:p>
          <a:p>
            <a:pPr lvl="1"/>
            <a:r>
              <a:rPr lang="en-US" sz="2400" dirty="0"/>
              <a:t>Understand its mission areas and objectives</a:t>
            </a:r>
          </a:p>
          <a:p>
            <a:r>
              <a:rPr lang="en-US" sz="2400" dirty="0"/>
              <a:t>At the end of the lecture </a:t>
            </a:r>
          </a:p>
          <a:p>
            <a:pPr lvl="1"/>
            <a:r>
              <a:rPr lang="en-US" sz="2400" dirty="0"/>
              <a:t>Give me the basics of what is needed and why in a response</a:t>
            </a:r>
          </a:p>
          <a:p>
            <a:pPr lvl="1"/>
            <a:r>
              <a:rPr lang="en-US" sz="2400" dirty="0"/>
              <a:t>The short term and long-term objectives of a radiological response</a:t>
            </a:r>
          </a:p>
          <a:p>
            <a:pPr lvl="1"/>
            <a:r>
              <a:rPr lang="en-US" sz="2400" dirty="0"/>
              <a:t>You should be able to tell me what the NRF is why it is important to emergency response</a:t>
            </a:r>
          </a:p>
          <a:p>
            <a:endParaRPr lang="en-US" dirty="0"/>
          </a:p>
        </p:txBody>
      </p:sp>
    </p:spTree>
    <p:extLst>
      <p:ext uri="{BB962C8B-B14F-4D97-AF65-F5344CB8AC3E}">
        <p14:creationId xmlns:p14="http://schemas.microsoft.com/office/powerpoint/2010/main" val="276182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bad can it be?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40834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051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 a responding scientist what do you need?</a:t>
            </a:r>
          </a:p>
        </p:txBody>
      </p:sp>
      <p:sp>
        <p:nvSpPr>
          <p:cNvPr id="3" name="Content Placeholder 2"/>
          <p:cNvSpPr>
            <a:spLocks noGrp="1"/>
          </p:cNvSpPr>
          <p:nvPr>
            <p:ph idx="1"/>
          </p:nvPr>
        </p:nvSpPr>
        <p:spPr/>
        <p:txBody>
          <a:bodyPr/>
          <a:lstStyle/>
          <a:p>
            <a:r>
              <a:rPr lang="en-US" dirty="0"/>
              <a:t>What data do you need?</a:t>
            </a:r>
          </a:p>
        </p:txBody>
      </p:sp>
    </p:spTree>
    <p:extLst>
      <p:ext uri="{BB962C8B-B14F-4D97-AF65-F5344CB8AC3E}">
        <p14:creationId xmlns:p14="http://schemas.microsoft.com/office/powerpoint/2010/main" val="1759945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would you get that data?</a:t>
            </a:r>
          </a:p>
        </p:txBody>
      </p:sp>
      <p:sp>
        <p:nvSpPr>
          <p:cNvPr id="3" name="Content Placeholder 2"/>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1445174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Objectives </a:t>
            </a:r>
            <a:r>
              <a:rPr lang="en-US"/>
              <a:t>of Radiological Emergency </a:t>
            </a:r>
            <a:r>
              <a:rPr lang="en-US" dirty="0"/>
              <a:t>Response</a:t>
            </a:r>
          </a:p>
        </p:txBody>
      </p:sp>
      <p:sp>
        <p:nvSpPr>
          <p:cNvPr id="3" name="Content Placeholder 2"/>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3252169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 a decision maker, what do I need to know</a:t>
            </a:r>
          </a:p>
        </p:txBody>
      </p:sp>
      <p:sp>
        <p:nvSpPr>
          <p:cNvPr id="3" name="Content Placeholder 2"/>
          <p:cNvSpPr>
            <a:spLocks noGrp="1"/>
          </p:cNvSpPr>
          <p:nvPr>
            <p:ph idx="1"/>
          </p:nvPr>
        </p:nvSpPr>
        <p:spPr/>
        <p:txBody>
          <a:bodyPr/>
          <a:lstStyle/>
          <a:p>
            <a:r>
              <a:rPr lang="en-US" sz="1800" dirty="0"/>
              <a:t>First, a decision maker is the person who will make the final decisions regarding public safety (evacuations, relocations, embargos)</a:t>
            </a:r>
          </a:p>
          <a:p>
            <a:r>
              <a:rPr lang="en-US" sz="1800" dirty="0"/>
              <a:t>What do they need to know?</a:t>
            </a:r>
          </a:p>
          <a:p>
            <a:pPr lvl="2"/>
            <a:endParaRPr lang="en-US" dirty="0"/>
          </a:p>
          <a:p>
            <a:pPr lvl="1"/>
            <a:endParaRPr lang="en-US" dirty="0"/>
          </a:p>
        </p:txBody>
      </p:sp>
    </p:spTree>
    <p:extLst>
      <p:ext uri="{BB962C8B-B14F-4D97-AF65-F5344CB8AC3E}">
        <p14:creationId xmlns:p14="http://schemas.microsoft.com/office/powerpoint/2010/main" val="1566717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National Response Agencies</a:t>
            </a:r>
          </a:p>
        </p:txBody>
      </p:sp>
      <p:sp>
        <p:nvSpPr>
          <p:cNvPr id="3" name="Content Placeholder 2"/>
          <p:cNvSpPr>
            <a:spLocks noGrp="1"/>
          </p:cNvSpPr>
          <p:nvPr>
            <p:ph idx="1"/>
          </p:nvPr>
        </p:nvSpPr>
        <p:spPr/>
        <p:txBody>
          <a:bodyPr>
            <a:noAutofit/>
          </a:bodyPr>
          <a:lstStyle/>
          <a:p>
            <a:pPr>
              <a:lnSpc>
                <a:spcPct val="120000"/>
              </a:lnSpc>
              <a:spcBef>
                <a:spcPts val="600"/>
              </a:spcBef>
            </a:pPr>
            <a:r>
              <a:rPr lang="en-US" sz="2000" dirty="0"/>
              <a:t>1979 – First US comprehensive plan for federal emergency response:  </a:t>
            </a:r>
          </a:p>
          <a:p>
            <a:pPr>
              <a:lnSpc>
                <a:spcPct val="120000"/>
              </a:lnSpc>
              <a:spcBef>
                <a:spcPts val="600"/>
              </a:spcBef>
            </a:pPr>
            <a:endParaRPr lang="en-US" sz="2000" dirty="0"/>
          </a:p>
          <a:p>
            <a:pPr lvl="1">
              <a:lnSpc>
                <a:spcPct val="120000"/>
              </a:lnSpc>
              <a:spcBef>
                <a:spcPts val="600"/>
              </a:spcBef>
            </a:pPr>
            <a:r>
              <a:rPr lang="en-US" sz="1600" dirty="0"/>
              <a:t>Federal Emergency management existed in 1 form or another for since ~1803</a:t>
            </a:r>
          </a:p>
          <a:p>
            <a:pPr lvl="1">
              <a:lnSpc>
                <a:spcPct val="120000"/>
              </a:lnSpc>
              <a:spcBef>
                <a:spcPts val="600"/>
              </a:spcBef>
            </a:pPr>
            <a:r>
              <a:rPr lang="en-US" sz="1600" dirty="0"/>
              <a:t>Between 1803-1979 piecemeal approach to disaster relief</a:t>
            </a:r>
          </a:p>
          <a:p>
            <a:pPr lvl="1">
              <a:lnSpc>
                <a:spcPct val="120000"/>
              </a:lnSpc>
              <a:spcBef>
                <a:spcPts val="600"/>
              </a:spcBef>
            </a:pPr>
            <a:r>
              <a:rPr lang="en-US" sz="1600" dirty="0"/>
              <a:t>FEMA first charged with absorbing ER duties from multiple agencies with disjointed plans</a:t>
            </a:r>
          </a:p>
          <a:p>
            <a:pPr>
              <a:lnSpc>
                <a:spcPct val="120000"/>
              </a:lnSpc>
              <a:spcBef>
                <a:spcPts val="600"/>
              </a:spcBef>
            </a:pPr>
            <a:r>
              <a:rPr lang="en-US" sz="2000" dirty="0"/>
              <a:t>1988 –  </a:t>
            </a:r>
          </a:p>
          <a:p>
            <a:pPr lvl="1">
              <a:lnSpc>
                <a:spcPct val="120000"/>
              </a:lnSpc>
              <a:spcBef>
                <a:spcPts val="600"/>
              </a:spcBef>
            </a:pPr>
            <a:r>
              <a:rPr lang="en-US" sz="1200" dirty="0"/>
              <a:t> </a:t>
            </a:r>
          </a:p>
          <a:p>
            <a:pPr lvl="1">
              <a:lnSpc>
                <a:spcPct val="120000"/>
              </a:lnSpc>
              <a:spcBef>
                <a:spcPts val="600"/>
              </a:spcBef>
            </a:pPr>
            <a:r>
              <a:rPr lang="en-US" sz="1600" dirty="0"/>
              <a:t>Established a system of federal assistance to state and local governments and required all states to prepare individual Emergency Operations Plans</a:t>
            </a:r>
          </a:p>
          <a:p>
            <a:pPr>
              <a:lnSpc>
                <a:spcPct val="120000"/>
              </a:lnSpc>
              <a:spcBef>
                <a:spcPts val="600"/>
              </a:spcBef>
            </a:pPr>
            <a:r>
              <a:rPr lang="en-US" sz="2000" dirty="0"/>
              <a:t>2003 –  </a:t>
            </a:r>
          </a:p>
        </p:txBody>
      </p:sp>
    </p:spTree>
    <p:extLst>
      <p:ext uri="{BB962C8B-B14F-4D97-AF65-F5344CB8AC3E}">
        <p14:creationId xmlns:p14="http://schemas.microsoft.com/office/powerpoint/2010/main" val="2269802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 Plans</a:t>
            </a:r>
          </a:p>
        </p:txBody>
      </p:sp>
      <p:sp>
        <p:nvSpPr>
          <p:cNvPr id="3" name="Content Placeholder 2"/>
          <p:cNvSpPr>
            <a:spLocks noGrp="1"/>
          </p:cNvSpPr>
          <p:nvPr>
            <p:ph idx="1"/>
          </p:nvPr>
        </p:nvSpPr>
        <p:spPr/>
        <p:txBody>
          <a:bodyPr>
            <a:normAutofit fontScale="92500" lnSpcReduction="10000"/>
          </a:bodyPr>
          <a:lstStyle/>
          <a:p>
            <a:pPr>
              <a:spcBef>
                <a:spcPts val="600"/>
              </a:spcBef>
            </a:pPr>
            <a:r>
              <a:rPr lang="en-US" sz="2000" dirty="0"/>
              <a:t>1992 – </a:t>
            </a:r>
            <a:r>
              <a:rPr lang="en-US" sz="2000" u="sng" dirty="0"/>
              <a:t>Federal Response Plan</a:t>
            </a:r>
            <a:r>
              <a:rPr lang="en-US" sz="2000" dirty="0"/>
              <a:t> (FRP)</a:t>
            </a:r>
          </a:p>
          <a:p>
            <a:pPr lvl="1">
              <a:spcBef>
                <a:spcPts val="600"/>
              </a:spcBef>
            </a:pPr>
            <a:r>
              <a:rPr lang="en-US" sz="1600" dirty="0"/>
              <a:t>Augmented by 1968 National Contingency Plan (NCP) – originally intended for oil spills</a:t>
            </a:r>
          </a:p>
          <a:p>
            <a:pPr lvl="1">
              <a:spcBef>
                <a:spcPts val="600"/>
              </a:spcBef>
            </a:pPr>
            <a:r>
              <a:rPr lang="en-US" sz="1600" dirty="0"/>
              <a:t>Scope expanded by 1980 Comprehensive Environmental Response, Compensation and Liability Act – included emergency hazardous waste removal and facility-specific contingency plans</a:t>
            </a:r>
          </a:p>
          <a:p>
            <a:pPr>
              <a:lnSpc>
                <a:spcPct val="120000"/>
              </a:lnSpc>
              <a:spcBef>
                <a:spcPts val="600"/>
              </a:spcBef>
            </a:pPr>
            <a:r>
              <a:rPr lang="en-US" sz="2000" dirty="0"/>
              <a:t>1996 – </a:t>
            </a:r>
            <a:r>
              <a:rPr lang="en-US" sz="2000" u="sng" dirty="0"/>
              <a:t> </a:t>
            </a:r>
          </a:p>
          <a:p>
            <a:pPr lvl="1">
              <a:lnSpc>
                <a:spcPct val="120000"/>
              </a:lnSpc>
              <a:spcBef>
                <a:spcPts val="600"/>
              </a:spcBef>
            </a:pPr>
            <a:r>
              <a:rPr lang="en-US" sz="1400" u="sng" dirty="0"/>
              <a:t> </a:t>
            </a:r>
          </a:p>
          <a:p>
            <a:pPr lvl="2">
              <a:lnSpc>
                <a:spcPct val="120000"/>
              </a:lnSpc>
              <a:spcBef>
                <a:spcPts val="600"/>
              </a:spcBef>
            </a:pPr>
            <a:endParaRPr lang="en-US" sz="1000" dirty="0"/>
          </a:p>
          <a:p>
            <a:pPr lvl="2">
              <a:lnSpc>
                <a:spcPct val="120000"/>
              </a:lnSpc>
              <a:spcBef>
                <a:spcPts val="600"/>
              </a:spcBef>
            </a:pPr>
            <a:r>
              <a:rPr lang="en-US" sz="1000" dirty="0"/>
              <a:t> </a:t>
            </a:r>
          </a:p>
          <a:p>
            <a:pPr lvl="1">
              <a:lnSpc>
                <a:spcPct val="120000"/>
              </a:lnSpc>
              <a:spcBef>
                <a:spcPts val="600"/>
              </a:spcBef>
            </a:pPr>
            <a:r>
              <a:rPr lang="en-US" sz="1400" u="sng" dirty="0"/>
              <a:t> </a:t>
            </a:r>
          </a:p>
          <a:p>
            <a:pPr lvl="1">
              <a:lnSpc>
                <a:spcPct val="120000"/>
              </a:lnSpc>
              <a:spcBef>
                <a:spcPts val="600"/>
              </a:spcBef>
            </a:pPr>
            <a:r>
              <a:rPr lang="en-US" sz="1400" u="sng" dirty="0"/>
              <a:t> </a:t>
            </a:r>
          </a:p>
          <a:p>
            <a:pPr lvl="1">
              <a:lnSpc>
                <a:spcPct val="120000"/>
              </a:lnSpc>
              <a:spcBef>
                <a:spcPts val="600"/>
              </a:spcBef>
            </a:pPr>
            <a:r>
              <a:rPr lang="en-US" sz="1400" u="sng" dirty="0"/>
              <a:t> </a:t>
            </a:r>
          </a:p>
          <a:p>
            <a:pPr lvl="1">
              <a:lnSpc>
                <a:spcPct val="120000"/>
              </a:lnSpc>
              <a:spcBef>
                <a:spcPts val="600"/>
              </a:spcBef>
            </a:pPr>
            <a:r>
              <a:rPr lang="en-US" sz="1400" u="sng" dirty="0"/>
              <a:t> </a:t>
            </a:r>
          </a:p>
          <a:p>
            <a:pPr lvl="1">
              <a:lnSpc>
                <a:spcPct val="120000"/>
              </a:lnSpc>
              <a:spcBef>
                <a:spcPts val="600"/>
              </a:spcBef>
            </a:pPr>
            <a:r>
              <a:rPr lang="en-US" sz="1400" u="sng" dirty="0"/>
              <a:t> </a:t>
            </a:r>
            <a:r>
              <a:rPr lang="en-US" sz="600" dirty="0"/>
              <a:t> </a:t>
            </a:r>
          </a:p>
          <a:p>
            <a:pPr>
              <a:lnSpc>
                <a:spcPct val="120000"/>
              </a:lnSpc>
              <a:spcBef>
                <a:spcPts val="600"/>
              </a:spcBef>
            </a:pPr>
            <a:r>
              <a:rPr lang="en-US" sz="2000" dirty="0"/>
              <a:t>2003 – </a:t>
            </a:r>
            <a:r>
              <a:rPr lang="en-US" sz="2100" dirty="0"/>
              <a:t> </a:t>
            </a:r>
            <a:endParaRPr lang="en-US" sz="1400" dirty="0"/>
          </a:p>
          <a:p>
            <a:pPr lvl="1">
              <a:lnSpc>
                <a:spcPct val="120000"/>
              </a:lnSpc>
              <a:spcBef>
                <a:spcPts val="600"/>
              </a:spcBef>
            </a:pPr>
            <a:endParaRPr lang="en-US" sz="1600" dirty="0"/>
          </a:p>
          <a:p>
            <a:pPr>
              <a:spcBef>
                <a:spcPts val="600"/>
              </a:spcBef>
            </a:pPr>
            <a:endParaRPr lang="en-US" sz="2000" dirty="0"/>
          </a:p>
          <a:p>
            <a:endParaRPr lang="en-US" dirty="0"/>
          </a:p>
        </p:txBody>
      </p:sp>
    </p:spTree>
    <p:extLst>
      <p:ext uri="{BB962C8B-B14F-4D97-AF65-F5344CB8AC3E}">
        <p14:creationId xmlns:p14="http://schemas.microsoft.com/office/powerpoint/2010/main" val="2515112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National Response Structures</a:t>
            </a:r>
          </a:p>
        </p:txBody>
      </p:sp>
      <p:sp>
        <p:nvSpPr>
          <p:cNvPr id="3" name="Content Placeholder 2"/>
          <p:cNvSpPr>
            <a:spLocks noGrp="1"/>
          </p:cNvSpPr>
          <p:nvPr>
            <p:ph idx="1"/>
          </p:nvPr>
        </p:nvSpPr>
        <p:spPr/>
        <p:txBody>
          <a:bodyPr>
            <a:noAutofit/>
          </a:bodyPr>
          <a:lstStyle/>
          <a:p>
            <a:pPr>
              <a:spcBef>
                <a:spcPts val="600"/>
              </a:spcBef>
            </a:pPr>
            <a:r>
              <a:rPr lang="en-US" sz="2000" dirty="0"/>
              <a:t>2003 – Homeland Security Presidential Directive 5 (HPSD-5) directs the development of the </a:t>
            </a:r>
            <a:r>
              <a:rPr lang="en-US" sz="2000" u="sng" dirty="0"/>
              <a:t>National Incident Management System</a:t>
            </a:r>
            <a:r>
              <a:rPr lang="en-US" sz="2000" dirty="0"/>
              <a:t> (NIMS)</a:t>
            </a:r>
          </a:p>
          <a:p>
            <a:pPr lvl="1">
              <a:spcBef>
                <a:spcPts val="600"/>
              </a:spcBef>
            </a:pPr>
            <a:r>
              <a:rPr lang="en-US" sz="1200" dirty="0"/>
              <a:t>NIMS adopted throughout all federal agencies</a:t>
            </a:r>
          </a:p>
          <a:p>
            <a:pPr lvl="1">
              <a:spcBef>
                <a:spcPts val="600"/>
              </a:spcBef>
            </a:pPr>
            <a:r>
              <a:rPr lang="en-US" sz="1200" dirty="0"/>
              <a:t>Emergency management doctrine that coordinates emergency preparedness and incident management among public and private sectors</a:t>
            </a:r>
          </a:p>
          <a:p>
            <a:pPr lvl="1">
              <a:spcBef>
                <a:spcPts val="600"/>
              </a:spcBef>
            </a:pPr>
            <a:r>
              <a:rPr lang="en-US" sz="1200" dirty="0"/>
              <a:t>Provides the template for the management of the incident (how the event should be organized)</a:t>
            </a:r>
          </a:p>
          <a:p>
            <a:pPr>
              <a:spcBef>
                <a:spcPts val="600"/>
              </a:spcBef>
            </a:pPr>
            <a:r>
              <a:rPr lang="en-US" sz="2000" dirty="0"/>
              <a:t>2004 – </a:t>
            </a:r>
            <a:r>
              <a:rPr lang="en-US" sz="2000" u="sng" dirty="0"/>
              <a:t>National Response Plan</a:t>
            </a:r>
            <a:r>
              <a:rPr lang="en-US" sz="2000" dirty="0"/>
              <a:t> (NRP) – </a:t>
            </a:r>
          </a:p>
          <a:p>
            <a:pPr lvl="1">
              <a:spcBef>
                <a:spcPts val="0"/>
              </a:spcBef>
            </a:pPr>
            <a:r>
              <a:rPr lang="en-US" sz="1200" dirty="0"/>
              <a:t>Provides the structure and mechanisms for national level policy for </a:t>
            </a:r>
            <a:r>
              <a:rPr lang="en-US" sz="1200" u="sng" dirty="0"/>
              <a:t>incident</a:t>
            </a:r>
            <a:r>
              <a:rPr lang="en-US" sz="1200" dirty="0"/>
              <a:t> management</a:t>
            </a:r>
          </a:p>
          <a:p>
            <a:pPr lvl="1">
              <a:spcBef>
                <a:spcPts val="0"/>
              </a:spcBef>
            </a:pPr>
            <a:r>
              <a:rPr lang="en-US" sz="1200" dirty="0"/>
              <a:t>Addresses natural disasters and terrorist attacks</a:t>
            </a:r>
          </a:p>
          <a:p>
            <a:pPr lvl="1">
              <a:spcBef>
                <a:spcPts val="0"/>
              </a:spcBef>
            </a:pPr>
            <a:r>
              <a:rPr lang="en-US" sz="1200" dirty="0"/>
              <a:t>Updated after Hurricanes Katrina, Wilma, and Rita in 2005</a:t>
            </a:r>
          </a:p>
          <a:p>
            <a:pPr>
              <a:spcBef>
                <a:spcPts val="600"/>
              </a:spcBef>
            </a:pPr>
            <a:r>
              <a:rPr lang="en-US" sz="2000" dirty="0"/>
              <a:t>2008 – </a:t>
            </a:r>
            <a:r>
              <a:rPr lang="en-US" sz="2000" u="sng" dirty="0"/>
              <a:t> </a:t>
            </a:r>
            <a:endParaRPr lang="en-US" sz="1400" dirty="0"/>
          </a:p>
        </p:txBody>
      </p:sp>
    </p:spTree>
    <p:extLst>
      <p:ext uri="{BB962C8B-B14F-4D97-AF65-F5344CB8AC3E}">
        <p14:creationId xmlns:p14="http://schemas.microsoft.com/office/powerpoint/2010/main" val="1084657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NRF response vision</a:t>
            </a:r>
          </a:p>
        </p:txBody>
      </p:sp>
      <p:sp>
        <p:nvSpPr>
          <p:cNvPr id="3" name="Content Placeholder 2"/>
          <p:cNvSpPr>
            <a:spLocks noGrp="1"/>
          </p:cNvSpPr>
          <p:nvPr>
            <p:ph idx="1"/>
          </p:nvPr>
        </p:nvSpPr>
        <p:spPr/>
        <p:txBody>
          <a:bodyPr/>
          <a:lstStyle/>
          <a:p>
            <a:r>
              <a:rPr lang="en-US" sz="2000" dirty="0"/>
              <a:t>NRF sets the strategy and doctrine for how the whole community builds, sustains, and delivers the response core capabilities identified in the National Preparedness Goal (NPG) in an integrated manner with the other mission areas. (Documents are available in Canvas)</a:t>
            </a:r>
          </a:p>
          <a:p>
            <a:r>
              <a:rPr lang="en-US" sz="2000" dirty="0"/>
              <a:t>NPG:</a:t>
            </a:r>
            <a:r>
              <a:rPr lang="en-US" sz="1600" dirty="0"/>
              <a:t> </a:t>
            </a:r>
            <a:r>
              <a:rPr lang="en-US" sz="2000" dirty="0"/>
              <a:t>“A secure and resilient nation with the capabilities required across the whole community to prevent, protect against, mitigate, respond to, and recover from the threats and hazards that pose the greatest risk.”</a:t>
            </a:r>
          </a:p>
          <a:p>
            <a:pPr lvl="1"/>
            <a:r>
              <a:rPr lang="en-US" sz="1600" dirty="0"/>
              <a:t>5 mission areas:</a:t>
            </a:r>
          </a:p>
          <a:p>
            <a:pPr lvl="2"/>
            <a:endParaRPr lang="en-US" sz="1200" dirty="0"/>
          </a:p>
          <a:p>
            <a:pPr lvl="1"/>
            <a:endParaRPr lang="en-US" dirty="0"/>
          </a:p>
          <a:p>
            <a:pPr lvl="1"/>
            <a:endParaRPr lang="en-US" dirty="0"/>
          </a:p>
        </p:txBody>
      </p:sp>
    </p:spTree>
    <p:extLst>
      <p:ext uri="{BB962C8B-B14F-4D97-AF65-F5344CB8AC3E}">
        <p14:creationId xmlns:p14="http://schemas.microsoft.com/office/powerpoint/2010/main" val="1197470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NRF the Document!</a:t>
            </a:r>
          </a:p>
        </p:txBody>
      </p:sp>
      <p:sp>
        <p:nvSpPr>
          <p:cNvPr id="3" name="Content Placeholder 2"/>
          <p:cNvSpPr>
            <a:spLocks noGrp="1"/>
          </p:cNvSpPr>
          <p:nvPr>
            <p:ph idx="1"/>
          </p:nvPr>
        </p:nvSpPr>
        <p:spPr/>
        <p:txBody>
          <a:bodyPr>
            <a:normAutofit fontScale="62500" lnSpcReduction="20000"/>
          </a:bodyPr>
          <a:lstStyle/>
          <a:p>
            <a:pPr>
              <a:lnSpc>
                <a:spcPct val="120000"/>
              </a:lnSpc>
              <a:spcBef>
                <a:spcPts val="0"/>
              </a:spcBef>
            </a:pPr>
            <a:r>
              <a:rPr lang="en-US" dirty="0"/>
              <a:t>National Response Framework is comprised of</a:t>
            </a:r>
          </a:p>
          <a:p>
            <a:pPr lvl="1">
              <a:lnSpc>
                <a:spcPct val="120000"/>
              </a:lnSpc>
              <a:spcBef>
                <a:spcPts val="0"/>
              </a:spcBef>
            </a:pPr>
            <a:r>
              <a:rPr lang="en-US" u="sng" dirty="0"/>
              <a:t>Core Document (51 pages!!)</a:t>
            </a:r>
          </a:p>
          <a:p>
            <a:pPr lvl="1">
              <a:lnSpc>
                <a:spcPct val="120000"/>
              </a:lnSpc>
              <a:spcBef>
                <a:spcPts val="0"/>
              </a:spcBef>
            </a:pPr>
            <a:r>
              <a:rPr lang="en-US" u="sng" dirty="0"/>
              <a:t>Emergency Support Function (ESF) Annexes</a:t>
            </a:r>
            <a:r>
              <a:rPr lang="en-US" b="1" dirty="0"/>
              <a:t> </a:t>
            </a:r>
            <a:r>
              <a:rPr lang="en-US" dirty="0"/>
              <a:t>– describe the federal coordinating structures that group resources and capabilities into functional areas most frequently needed in a national response</a:t>
            </a:r>
          </a:p>
          <a:p>
            <a:pPr lvl="1">
              <a:lnSpc>
                <a:spcPct val="120000"/>
              </a:lnSpc>
              <a:spcBef>
                <a:spcPts val="0"/>
              </a:spcBef>
            </a:pPr>
            <a:r>
              <a:rPr lang="en-US" u="sng" dirty="0"/>
              <a:t>Support Annexes</a:t>
            </a:r>
            <a:r>
              <a:rPr lang="en-US" dirty="0"/>
              <a:t>  – describe other mechanisms by which support is organized among private sector, NGO, and federal partners. The support annexes describe the essential supporting processes and considerations common to most incidents. Content found within the support annexes is superseded by changes and updates to legislation. </a:t>
            </a:r>
          </a:p>
          <a:p>
            <a:pPr>
              <a:lnSpc>
                <a:spcPct val="120000"/>
              </a:lnSpc>
              <a:spcBef>
                <a:spcPts val="0"/>
              </a:spcBef>
            </a:pPr>
            <a:r>
              <a:rPr lang="en-US" dirty="0"/>
              <a:t>Previously had “Incident Annexes”  – These are now under the Federal Interagency Operational Plan (FIOP) incident annexes (link in Canvas)</a:t>
            </a:r>
          </a:p>
          <a:p>
            <a:pPr lvl="1">
              <a:lnSpc>
                <a:spcPct val="120000"/>
              </a:lnSpc>
              <a:spcBef>
                <a:spcPts val="0"/>
              </a:spcBef>
            </a:pPr>
            <a:r>
              <a:rPr lang="en-US" dirty="0"/>
              <a:t>address the unique aspects of how we respond to seven broad incident categories (e.g., biological, </a:t>
            </a:r>
            <a:r>
              <a:rPr lang="en-US" i="1" dirty="0"/>
              <a:t>nuclear/radiological</a:t>
            </a:r>
            <a:r>
              <a:rPr lang="en-US" dirty="0"/>
              <a:t>, cyber, mass evacuation, etc.)</a:t>
            </a:r>
          </a:p>
          <a:p>
            <a:pPr>
              <a:lnSpc>
                <a:spcPct val="120000"/>
              </a:lnSpc>
              <a:spcBef>
                <a:spcPts val="0"/>
              </a:spcBef>
            </a:pPr>
            <a:r>
              <a:rPr lang="en-US" dirty="0"/>
              <a:t>Two other annexes have been removed and are now in ESF #14</a:t>
            </a:r>
          </a:p>
        </p:txBody>
      </p:sp>
    </p:spTree>
    <p:extLst>
      <p:ext uri="{BB962C8B-B14F-4D97-AF65-F5344CB8AC3E}">
        <p14:creationId xmlns:p14="http://schemas.microsoft.com/office/powerpoint/2010/main" val="149950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9139-259A-44CC-9BFA-DA1415FD797C}"/>
              </a:ext>
            </a:extLst>
          </p:cNvPr>
          <p:cNvSpPr>
            <a:spLocks noGrp="1"/>
          </p:cNvSpPr>
          <p:nvPr>
            <p:ph type="title"/>
          </p:nvPr>
        </p:nvSpPr>
        <p:spPr/>
        <p:txBody>
          <a:bodyPr/>
          <a:lstStyle/>
          <a:p>
            <a:r>
              <a:rPr lang="en-US" dirty="0"/>
              <a:t>NRF Core principles</a:t>
            </a:r>
          </a:p>
        </p:txBody>
      </p:sp>
      <p:sp>
        <p:nvSpPr>
          <p:cNvPr id="3" name="Content Placeholder 2">
            <a:extLst>
              <a:ext uri="{FF2B5EF4-FFF2-40B4-BE49-F238E27FC236}">
                <a16:creationId xmlns:a16="http://schemas.microsoft.com/office/drawing/2014/main" id="{F89E9E12-899A-4584-8EA2-D378DEE7D328}"/>
              </a:ext>
            </a:extLst>
          </p:cNvPr>
          <p:cNvSpPr>
            <a:spLocks noGrp="1"/>
          </p:cNvSpPr>
          <p:nvPr>
            <p:ph idx="1"/>
          </p:nvPr>
        </p:nvSpPr>
        <p:spPr/>
        <p:txBody>
          <a:bodyPr/>
          <a:lstStyle/>
          <a:p>
            <a:r>
              <a:rPr lang="en-US" sz="2000" dirty="0"/>
              <a:t>5 key principles (page 5 NRF)</a:t>
            </a:r>
          </a:p>
          <a:p>
            <a:endParaRPr lang="en-US" dirty="0"/>
          </a:p>
        </p:txBody>
      </p:sp>
    </p:spTree>
    <p:extLst>
      <p:ext uri="{BB962C8B-B14F-4D97-AF65-F5344CB8AC3E}">
        <p14:creationId xmlns:p14="http://schemas.microsoft.com/office/powerpoint/2010/main" val="87233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Emergency Support Functions</a:t>
            </a:r>
          </a:p>
        </p:txBody>
      </p:sp>
      <p:pic>
        <p:nvPicPr>
          <p:cNvPr id="3" name="Picture 2">
            <a:extLst>
              <a:ext uri="{FF2B5EF4-FFF2-40B4-BE49-F238E27FC236}">
                <a16:creationId xmlns:a16="http://schemas.microsoft.com/office/drawing/2014/main" id="{09BE2FDC-C50F-4CAB-9CED-DA7ED344B9C1}"/>
              </a:ext>
            </a:extLst>
          </p:cNvPr>
          <p:cNvPicPr>
            <a:picLocks noChangeAspect="1"/>
          </p:cNvPicPr>
          <p:nvPr/>
        </p:nvPicPr>
        <p:blipFill>
          <a:blip r:embed="rId2"/>
          <a:stretch>
            <a:fillRect/>
          </a:stretch>
        </p:blipFill>
        <p:spPr>
          <a:xfrm>
            <a:off x="228600" y="1219200"/>
            <a:ext cx="4114800" cy="5302510"/>
          </a:xfrm>
          <a:prstGeom prst="rect">
            <a:avLst/>
          </a:prstGeom>
        </p:spPr>
      </p:pic>
      <p:pic>
        <p:nvPicPr>
          <p:cNvPr id="4" name="Picture 3">
            <a:extLst>
              <a:ext uri="{FF2B5EF4-FFF2-40B4-BE49-F238E27FC236}">
                <a16:creationId xmlns:a16="http://schemas.microsoft.com/office/drawing/2014/main" id="{E1C18585-4E00-4F81-AF07-CECAB835C6AF}"/>
              </a:ext>
            </a:extLst>
          </p:cNvPr>
          <p:cNvPicPr>
            <a:picLocks noChangeAspect="1"/>
          </p:cNvPicPr>
          <p:nvPr/>
        </p:nvPicPr>
        <p:blipFill>
          <a:blip r:embed="rId3"/>
          <a:stretch>
            <a:fillRect/>
          </a:stretch>
        </p:blipFill>
        <p:spPr>
          <a:xfrm>
            <a:off x="4495800" y="1224123"/>
            <a:ext cx="4320628" cy="5303520"/>
          </a:xfrm>
          <a:prstGeom prst="rect">
            <a:avLst/>
          </a:prstGeom>
        </p:spPr>
      </p:pic>
    </p:spTree>
    <p:extLst>
      <p:ext uri="{BB962C8B-B14F-4D97-AF65-F5344CB8AC3E}">
        <p14:creationId xmlns:p14="http://schemas.microsoft.com/office/powerpoint/2010/main" val="896759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547" y="-76200"/>
            <a:ext cx="8229600" cy="862013"/>
          </a:xfrm>
        </p:spPr>
        <p:txBody>
          <a:bodyPr/>
          <a:lstStyle/>
          <a:p>
            <a:r>
              <a:rPr lang="en-US" dirty="0"/>
              <a:t>ESFs Continued</a:t>
            </a:r>
          </a:p>
        </p:txBody>
      </p:sp>
      <p:pic>
        <p:nvPicPr>
          <p:cNvPr id="3" name="Picture 2">
            <a:extLst>
              <a:ext uri="{FF2B5EF4-FFF2-40B4-BE49-F238E27FC236}">
                <a16:creationId xmlns:a16="http://schemas.microsoft.com/office/drawing/2014/main" id="{BA6FAB9E-90A8-44B6-9093-C24CC25B9374}"/>
              </a:ext>
            </a:extLst>
          </p:cNvPr>
          <p:cNvPicPr>
            <a:picLocks noChangeAspect="1"/>
          </p:cNvPicPr>
          <p:nvPr/>
        </p:nvPicPr>
        <p:blipFill>
          <a:blip r:embed="rId2"/>
          <a:stretch>
            <a:fillRect/>
          </a:stretch>
        </p:blipFill>
        <p:spPr>
          <a:xfrm>
            <a:off x="2171875" y="673214"/>
            <a:ext cx="4325112" cy="349573"/>
          </a:xfrm>
          <a:prstGeom prst="rect">
            <a:avLst/>
          </a:prstGeom>
        </p:spPr>
      </p:pic>
      <p:pic>
        <p:nvPicPr>
          <p:cNvPr id="4" name="Picture 3">
            <a:extLst>
              <a:ext uri="{FF2B5EF4-FFF2-40B4-BE49-F238E27FC236}">
                <a16:creationId xmlns:a16="http://schemas.microsoft.com/office/drawing/2014/main" id="{F8F31847-84F3-4742-A23B-C343E132D62C}"/>
              </a:ext>
            </a:extLst>
          </p:cNvPr>
          <p:cNvPicPr>
            <a:picLocks noChangeAspect="1"/>
          </p:cNvPicPr>
          <p:nvPr/>
        </p:nvPicPr>
        <p:blipFill>
          <a:blip r:embed="rId3"/>
          <a:stretch>
            <a:fillRect/>
          </a:stretch>
        </p:blipFill>
        <p:spPr>
          <a:xfrm>
            <a:off x="2171875" y="1022787"/>
            <a:ext cx="4325112" cy="5725820"/>
          </a:xfrm>
          <a:prstGeom prst="rect">
            <a:avLst/>
          </a:prstGeom>
        </p:spPr>
      </p:pic>
    </p:spTree>
    <p:extLst>
      <p:ext uri="{BB962C8B-B14F-4D97-AF65-F5344CB8AC3E}">
        <p14:creationId xmlns:p14="http://schemas.microsoft.com/office/powerpoint/2010/main" val="49644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4914</TotalTime>
  <Words>689</Words>
  <Application>Microsoft Office PowerPoint</Application>
  <PresentationFormat>On-screen Show (4:3)</PresentationFormat>
  <Paragraphs>75</Paragraphs>
  <Slides>15</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Emergency Response and the NRF</vt:lpstr>
      <vt:lpstr>Goals for the day</vt:lpstr>
      <vt:lpstr>How bad can it be?</vt:lpstr>
      <vt:lpstr>As a responding scientist what do you need?</vt:lpstr>
      <vt:lpstr>How would you get that data?</vt:lpstr>
      <vt:lpstr>Objectives of Radiological Emergency Response</vt:lpstr>
      <vt:lpstr>As a decision maker, what do I need to know</vt:lpstr>
      <vt:lpstr>History of National Response Agencies</vt:lpstr>
      <vt:lpstr>Response Plans</vt:lpstr>
      <vt:lpstr>National Response Structures</vt:lpstr>
      <vt:lpstr>NRF response vision</vt:lpstr>
      <vt:lpstr>NRF the Document!</vt:lpstr>
      <vt:lpstr>NRF Core principles</vt:lpstr>
      <vt:lpstr>Emergency Support Functions</vt:lpstr>
      <vt:lpstr>ESFs Continued</vt:lpstr>
    </vt:vector>
  </TitlesOfParts>
  <Company>NTSOPS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Craig M. Marianno</dc:creator>
  <cp:lastModifiedBy>Marianno, Craig M</cp:lastModifiedBy>
  <cp:revision>97</cp:revision>
  <cp:lastPrinted>2014-01-14T20:02:47Z</cp:lastPrinted>
  <dcterms:created xsi:type="dcterms:W3CDTF">2009-12-17T18:51:06Z</dcterms:created>
  <dcterms:modified xsi:type="dcterms:W3CDTF">2026-08-30T22:30:34Z</dcterms:modified>
</cp:coreProperties>
</file>