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22"/>
  </p:notesMasterIdLst>
  <p:sldIdLst>
    <p:sldId id="501" r:id="rId2"/>
    <p:sldId id="526" r:id="rId3"/>
    <p:sldId id="524" r:id="rId4"/>
    <p:sldId id="503" r:id="rId5"/>
    <p:sldId id="505" r:id="rId6"/>
    <p:sldId id="527" r:id="rId7"/>
    <p:sldId id="506" r:id="rId8"/>
    <p:sldId id="504" r:id="rId9"/>
    <p:sldId id="507" r:id="rId10"/>
    <p:sldId id="508" r:id="rId11"/>
    <p:sldId id="509" r:id="rId12"/>
    <p:sldId id="510" r:id="rId13"/>
    <p:sldId id="511" r:id="rId14"/>
    <p:sldId id="512" r:id="rId15"/>
    <p:sldId id="513" r:id="rId16"/>
    <p:sldId id="514" r:id="rId17"/>
    <p:sldId id="515" r:id="rId18"/>
    <p:sldId id="525" r:id="rId19"/>
    <p:sldId id="516" r:id="rId20"/>
    <p:sldId id="520" r:id="rId21"/>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raig M. Marianno" initials="CMM"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660066"/>
    <a:srgbClr val="CCCCFF"/>
    <a:srgbClr val="CCFFFF"/>
    <a:srgbClr val="66FFFF"/>
    <a:srgbClr val="000066"/>
    <a:srgbClr val="FF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78" autoAdjust="0"/>
    <p:restoredTop sz="69499" autoAdjust="0"/>
  </p:normalViewPr>
  <p:slideViewPr>
    <p:cSldViewPr>
      <p:cViewPr varScale="1">
        <p:scale>
          <a:sx n="107" d="100"/>
          <a:sy n="107" d="100"/>
        </p:scale>
        <p:origin x="503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690" y="-7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vl1pPr>
          </a:lstStyle>
          <a:p>
            <a:pPr>
              <a:defRPr/>
            </a:pPr>
            <a:endParaRPr lang="en-US"/>
          </a:p>
        </p:txBody>
      </p:sp>
      <p:sp>
        <p:nvSpPr>
          <p:cNvPr id="5123" name="Rectangle 3"/>
          <p:cNvSpPr>
            <a:spLocks noGrp="1" noChangeArrowheads="1"/>
          </p:cNvSpPr>
          <p:nvPr>
            <p:ph type="dt" idx="1"/>
          </p:nvPr>
        </p:nvSpPr>
        <p:spPr bwMode="auto">
          <a:xfrm>
            <a:off x="397256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vl1pPr>
          </a:lstStyle>
          <a:p>
            <a:pPr>
              <a:defRPr/>
            </a:pPr>
            <a:endParaRPr lang="en-US"/>
          </a:p>
        </p:txBody>
      </p:sp>
      <p:sp>
        <p:nvSpPr>
          <p:cNvPr id="35844"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34720" y="4415790"/>
            <a:ext cx="5140960" cy="41833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vl1pPr>
          </a:lstStyle>
          <a:p>
            <a:pPr>
              <a:defRPr/>
            </a:pPr>
            <a:endParaRPr lang="en-US"/>
          </a:p>
        </p:txBody>
      </p:sp>
      <p:sp>
        <p:nvSpPr>
          <p:cNvPr id="5127" name="Rectangle 7"/>
          <p:cNvSpPr>
            <a:spLocks noGrp="1" noChangeArrowheads="1"/>
          </p:cNvSpPr>
          <p:nvPr>
            <p:ph type="sldNum" sz="quarter" idx="5"/>
          </p:nvPr>
        </p:nvSpPr>
        <p:spPr bwMode="auto">
          <a:xfrm>
            <a:off x="397256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vl1pPr>
          </a:lstStyle>
          <a:p>
            <a:pPr>
              <a:defRPr/>
            </a:pPr>
            <a:fld id="{F0BD5326-3DD3-434E-81AE-5B7A4201155A}" type="slidenum">
              <a:rPr lang="en-US"/>
              <a:pPr>
                <a:defRPr/>
              </a:pPr>
              <a:t>‹#›</a:t>
            </a:fld>
            <a:endParaRPr lang="en-US"/>
          </a:p>
        </p:txBody>
      </p:sp>
    </p:spTree>
    <p:extLst>
      <p:ext uri="{BB962C8B-B14F-4D97-AF65-F5344CB8AC3E}">
        <p14:creationId xmlns:p14="http://schemas.microsoft.com/office/powerpoint/2010/main" val="40971675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7"/>
          <p:cNvSpPr>
            <a:spLocks noChangeShapeType="1"/>
          </p:cNvSpPr>
          <p:nvPr/>
        </p:nvSpPr>
        <p:spPr bwMode="auto">
          <a:xfrm>
            <a:off x="228600" y="3810000"/>
            <a:ext cx="8686800" cy="0"/>
          </a:xfrm>
          <a:prstGeom prst="line">
            <a:avLst/>
          </a:prstGeom>
          <a:noFill/>
          <a:ln w="38100">
            <a:solidFill>
              <a:srgbClr val="000066"/>
            </a:solidFill>
            <a:round/>
            <a:headEnd/>
            <a:tailEnd/>
          </a:ln>
          <a:effectLst/>
        </p:spPr>
        <p:txBody>
          <a:bodyPr wrap="none" anchor="ctr"/>
          <a:lstStyle/>
          <a:p>
            <a:pPr>
              <a:defRPr/>
            </a:pPr>
            <a:endParaRPr lang="en-US"/>
          </a:p>
        </p:txBody>
      </p:sp>
      <p:sp>
        <p:nvSpPr>
          <p:cNvPr id="4098" name="Rectangle 2"/>
          <p:cNvSpPr>
            <a:spLocks noGrp="1" noChangeArrowheads="1"/>
          </p:cNvSpPr>
          <p:nvPr>
            <p:ph type="ctrTitle"/>
          </p:nvPr>
        </p:nvSpPr>
        <p:spPr>
          <a:xfrm>
            <a:off x="685800" y="914400"/>
            <a:ext cx="7772400" cy="2667000"/>
          </a:xfrm>
        </p:spPr>
        <p:txBody>
          <a:bodyPr/>
          <a:lstStyle>
            <a:lvl1pPr>
              <a:defRPr>
                <a:latin typeface="Times New Roman" pitchFamily="18" charset="0"/>
              </a:defRPr>
            </a:lvl1pPr>
          </a:lstStyle>
          <a:p>
            <a:r>
              <a:rPr lang="en-US"/>
              <a:t>Click To Edit Master Title Style</a:t>
            </a:r>
          </a:p>
        </p:txBody>
      </p:sp>
      <p:sp>
        <p:nvSpPr>
          <p:cNvPr id="4099" name="Rectangle 3"/>
          <p:cNvSpPr>
            <a:spLocks noGrp="1" noChangeArrowheads="1"/>
          </p:cNvSpPr>
          <p:nvPr>
            <p:ph type="subTitle" idx="1"/>
          </p:nvPr>
        </p:nvSpPr>
        <p:spPr>
          <a:xfrm>
            <a:off x="1219200" y="4114800"/>
            <a:ext cx="6705600" cy="1981200"/>
          </a:xfrm>
        </p:spPr>
        <p:txBody>
          <a:bodyPr/>
          <a:lstStyle>
            <a:lvl1pPr marL="0" indent="0" algn="ctr">
              <a:buFontTx/>
              <a:buNone/>
              <a:defRPr sz="2000">
                <a:latin typeface="Times New Roman" pitchFamily="18" charset="0"/>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600200"/>
            <a:ext cx="4191000" cy="51054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191000" cy="51054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228600"/>
            <a:ext cx="2133600" cy="6477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228600"/>
            <a:ext cx="6248400" cy="647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001000" cy="838200"/>
          </a:xfrm>
        </p:spPr>
        <p:txBody>
          <a:bodyPr/>
          <a:lstStyle/>
          <a:p>
            <a:r>
              <a:rPr lang="en-US"/>
              <a:t>Click to edit Master title style</a:t>
            </a:r>
          </a:p>
        </p:txBody>
      </p:sp>
      <p:sp>
        <p:nvSpPr>
          <p:cNvPr id="3" name="Text Placeholder 2"/>
          <p:cNvSpPr>
            <a:spLocks noGrp="1"/>
          </p:cNvSpPr>
          <p:nvPr>
            <p:ph type="body" sz="half" idx="1"/>
          </p:nvPr>
        </p:nvSpPr>
        <p:spPr>
          <a:xfrm>
            <a:off x="685800" y="1600200"/>
            <a:ext cx="39243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1600200"/>
            <a:ext cx="39243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sldNum" sz="quarter" idx="10"/>
          </p:nvPr>
        </p:nvSpPr>
        <p:spPr>
          <a:xfrm>
            <a:off x="7010400" y="0"/>
            <a:ext cx="2133600" cy="476250"/>
          </a:xfrm>
          <a:prstGeom prst="rect">
            <a:avLst/>
          </a:prstGeom>
        </p:spPr>
        <p:txBody>
          <a:bodyPr/>
          <a:lstStyle>
            <a:lvl1pPr>
              <a:defRPr/>
            </a:lvl1pPr>
          </a:lstStyle>
          <a:p>
            <a:pPr>
              <a:defRPr/>
            </a:pPr>
            <a:fld id="{C9AB2047-B63E-4D6D-853F-37352A5C8C4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304800" y="228600"/>
            <a:ext cx="8534400" cy="1219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7411" name="Rectangle 3"/>
          <p:cNvSpPr>
            <a:spLocks noGrp="1" noChangeArrowheads="1"/>
          </p:cNvSpPr>
          <p:nvPr>
            <p:ph type="body" idx="1"/>
          </p:nvPr>
        </p:nvSpPr>
        <p:spPr bwMode="auto">
          <a:xfrm>
            <a:off x="304800" y="1600200"/>
            <a:ext cx="85344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2" name="Line 8"/>
          <p:cNvSpPr>
            <a:spLocks noChangeShapeType="1"/>
          </p:cNvSpPr>
          <p:nvPr/>
        </p:nvSpPr>
        <p:spPr bwMode="auto">
          <a:xfrm>
            <a:off x="228600" y="1524000"/>
            <a:ext cx="8686800" cy="0"/>
          </a:xfrm>
          <a:prstGeom prst="line">
            <a:avLst/>
          </a:prstGeom>
          <a:noFill/>
          <a:ln w="38100">
            <a:solidFill>
              <a:srgbClr val="000066"/>
            </a:solidFill>
            <a:round/>
            <a:headEnd/>
            <a:tailEnd/>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721"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2" r:id="rId12"/>
  </p:sldLayoutIdLst>
  <p:txStyles>
    <p:titleStyle>
      <a:lvl1pPr algn="ctr" rtl="0" eaLnBrk="0" fontAlgn="base" hangingPunct="0">
        <a:spcBef>
          <a:spcPct val="0"/>
        </a:spcBef>
        <a:spcAft>
          <a:spcPct val="0"/>
        </a:spcAft>
        <a:defRPr sz="4000" b="1">
          <a:solidFill>
            <a:schemeClr val="tx2"/>
          </a:solidFill>
          <a:latin typeface="+mj-lt"/>
          <a:ea typeface="+mj-ea"/>
          <a:cs typeface="+mj-cs"/>
        </a:defRPr>
      </a:lvl1pPr>
      <a:lvl2pPr algn="ctr" rtl="0" eaLnBrk="0" fontAlgn="base" hangingPunct="0">
        <a:spcBef>
          <a:spcPct val="0"/>
        </a:spcBef>
        <a:spcAft>
          <a:spcPct val="0"/>
        </a:spcAft>
        <a:defRPr sz="4000" b="1">
          <a:solidFill>
            <a:schemeClr val="tx2"/>
          </a:solidFill>
          <a:latin typeface="Arial" charset="0"/>
        </a:defRPr>
      </a:lvl2pPr>
      <a:lvl3pPr algn="ctr" rtl="0" eaLnBrk="0" fontAlgn="base" hangingPunct="0">
        <a:spcBef>
          <a:spcPct val="0"/>
        </a:spcBef>
        <a:spcAft>
          <a:spcPct val="0"/>
        </a:spcAft>
        <a:defRPr sz="4000" b="1">
          <a:solidFill>
            <a:schemeClr val="tx2"/>
          </a:solidFill>
          <a:latin typeface="Arial" charset="0"/>
        </a:defRPr>
      </a:lvl3pPr>
      <a:lvl4pPr algn="ctr" rtl="0" eaLnBrk="0" fontAlgn="base" hangingPunct="0">
        <a:spcBef>
          <a:spcPct val="0"/>
        </a:spcBef>
        <a:spcAft>
          <a:spcPct val="0"/>
        </a:spcAft>
        <a:defRPr sz="4000" b="1">
          <a:solidFill>
            <a:schemeClr val="tx2"/>
          </a:solidFill>
          <a:latin typeface="Arial" charset="0"/>
        </a:defRPr>
      </a:lvl4pPr>
      <a:lvl5pPr algn="ctr" rtl="0" eaLnBrk="0" fontAlgn="base" hangingPunct="0">
        <a:spcBef>
          <a:spcPct val="0"/>
        </a:spcBef>
        <a:spcAft>
          <a:spcPct val="0"/>
        </a:spcAft>
        <a:defRPr sz="4000" b="1">
          <a:solidFill>
            <a:schemeClr val="tx2"/>
          </a:solidFill>
          <a:latin typeface="Arial" charset="0"/>
        </a:defRPr>
      </a:lvl5pPr>
      <a:lvl6pPr marL="457200" algn="ctr" rtl="0" eaLnBrk="0" fontAlgn="base" hangingPunct="0">
        <a:spcBef>
          <a:spcPct val="0"/>
        </a:spcBef>
        <a:spcAft>
          <a:spcPct val="0"/>
        </a:spcAft>
        <a:defRPr sz="4000" b="1">
          <a:solidFill>
            <a:schemeClr val="tx2"/>
          </a:solidFill>
          <a:latin typeface="Arial" charset="0"/>
        </a:defRPr>
      </a:lvl6pPr>
      <a:lvl7pPr marL="914400" algn="ctr" rtl="0" eaLnBrk="0" fontAlgn="base" hangingPunct="0">
        <a:spcBef>
          <a:spcPct val="0"/>
        </a:spcBef>
        <a:spcAft>
          <a:spcPct val="0"/>
        </a:spcAft>
        <a:defRPr sz="4000" b="1">
          <a:solidFill>
            <a:schemeClr val="tx2"/>
          </a:solidFill>
          <a:latin typeface="Arial" charset="0"/>
        </a:defRPr>
      </a:lvl7pPr>
      <a:lvl8pPr marL="1371600" algn="ctr" rtl="0" eaLnBrk="0" fontAlgn="base" hangingPunct="0">
        <a:spcBef>
          <a:spcPct val="0"/>
        </a:spcBef>
        <a:spcAft>
          <a:spcPct val="0"/>
        </a:spcAft>
        <a:defRPr sz="4000" b="1">
          <a:solidFill>
            <a:schemeClr val="tx2"/>
          </a:solidFill>
          <a:latin typeface="Arial" charset="0"/>
        </a:defRPr>
      </a:lvl8pPr>
      <a:lvl9pPr marL="1828800" algn="ctr" rtl="0" eaLnBrk="0" fontAlgn="base" hangingPunct="0">
        <a:spcBef>
          <a:spcPct val="0"/>
        </a:spcBef>
        <a:spcAft>
          <a:spcPct val="0"/>
        </a:spcAft>
        <a:defRPr sz="40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400">
          <a:solidFill>
            <a:schemeClr val="tx1"/>
          </a:solidFill>
          <a:latin typeface="+mn-lt"/>
        </a:defRPr>
      </a:lvl5pPr>
      <a:lvl6pPr marL="2514600" indent="-228600" algn="l" rtl="0" eaLnBrk="0" fontAlgn="base" hangingPunct="0">
        <a:spcBef>
          <a:spcPct val="20000"/>
        </a:spcBef>
        <a:spcAft>
          <a:spcPct val="0"/>
        </a:spcAft>
        <a:buChar char="»"/>
        <a:defRPr sz="1400">
          <a:solidFill>
            <a:schemeClr val="tx1"/>
          </a:solidFill>
          <a:latin typeface="+mn-lt"/>
        </a:defRPr>
      </a:lvl6pPr>
      <a:lvl7pPr marL="2971800" indent="-228600" algn="l" rtl="0" eaLnBrk="0" fontAlgn="base" hangingPunct="0">
        <a:spcBef>
          <a:spcPct val="20000"/>
        </a:spcBef>
        <a:spcAft>
          <a:spcPct val="0"/>
        </a:spcAft>
        <a:buChar char="»"/>
        <a:defRPr sz="1400">
          <a:solidFill>
            <a:schemeClr val="tx1"/>
          </a:solidFill>
          <a:latin typeface="+mn-lt"/>
        </a:defRPr>
      </a:lvl7pPr>
      <a:lvl8pPr marL="3429000" indent="-228600" algn="l" rtl="0" eaLnBrk="0" fontAlgn="base" hangingPunct="0">
        <a:spcBef>
          <a:spcPct val="20000"/>
        </a:spcBef>
        <a:spcAft>
          <a:spcPct val="0"/>
        </a:spcAft>
        <a:buChar char="»"/>
        <a:defRPr sz="1400">
          <a:solidFill>
            <a:schemeClr val="tx1"/>
          </a:solidFill>
          <a:latin typeface="+mn-lt"/>
        </a:defRPr>
      </a:lvl8pPr>
      <a:lvl9pPr marL="3886200" indent="-228600" algn="l" rtl="0" eaLnBrk="0" fontAlgn="base" hangingPunct="0">
        <a:spcBef>
          <a:spcPct val="2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68618" y="2130425"/>
            <a:ext cx="5221994" cy="1470025"/>
          </a:xfrm>
        </p:spPr>
        <p:txBody>
          <a:bodyPr>
            <a:normAutofit fontScale="90000"/>
          </a:bodyPr>
          <a:lstStyle/>
          <a:p>
            <a:pPr algn="ctr"/>
            <a:r>
              <a:rPr lang="en-US" dirty="0"/>
              <a:t>EPA 400:</a:t>
            </a:r>
            <a:br>
              <a:rPr lang="en-US" dirty="0"/>
            </a:br>
            <a:r>
              <a:rPr lang="en-US" dirty="0"/>
              <a:t>Protective Action Guide</a:t>
            </a:r>
          </a:p>
        </p:txBody>
      </p:sp>
      <p:sp>
        <p:nvSpPr>
          <p:cNvPr id="3" name="Subtitle 2"/>
          <p:cNvSpPr>
            <a:spLocks noGrp="1"/>
          </p:cNvSpPr>
          <p:nvPr>
            <p:ph type="subTitle" idx="1"/>
          </p:nvPr>
        </p:nvSpPr>
        <p:spPr>
          <a:xfrm>
            <a:off x="2236425" y="3886200"/>
            <a:ext cx="6221776" cy="1412913"/>
          </a:xfrm>
        </p:spPr>
        <p:txBody>
          <a:bodyPr>
            <a:normAutofit/>
          </a:bodyPr>
          <a:lstStyle/>
          <a:p>
            <a:r>
              <a:rPr lang="en-US" dirty="0"/>
              <a:t>Dr. Marianno</a:t>
            </a:r>
          </a:p>
          <a:p>
            <a:r>
              <a:rPr lang="en-US" dirty="0"/>
              <a:t>Emergency Response Dose Assessment</a:t>
            </a:r>
          </a:p>
        </p:txBody>
      </p:sp>
      <p:pic>
        <p:nvPicPr>
          <p:cNvPr id="8" name="Picture 7" descr="Logo featuring United States Environmental Protection Agency text surrounding blue circular emblem and green sprouting plant, symbolizing environmental protection and stewardship. Blue-and-green palette includes water, horizon, sun, leaves, and outer circular border with blue dot markers.&#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646"/>
            <a:ext cx="6108192" cy="6108192"/>
          </a:xfrm>
          <a:prstGeom prst="diagStripe">
            <a:avLst/>
          </a:prstGeom>
        </p:spPr>
      </p:pic>
    </p:spTree>
    <p:extLst>
      <p:ext uri="{BB962C8B-B14F-4D97-AF65-F5344CB8AC3E}">
        <p14:creationId xmlns:p14="http://schemas.microsoft.com/office/powerpoint/2010/main" val="1330924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Assignment</a:t>
            </a:r>
          </a:p>
        </p:txBody>
      </p:sp>
      <p:sp>
        <p:nvSpPr>
          <p:cNvPr id="3" name="Content Placeholder 2"/>
          <p:cNvSpPr>
            <a:spLocks noGrp="1"/>
          </p:cNvSpPr>
          <p:nvPr>
            <p:ph idx="1"/>
          </p:nvPr>
        </p:nvSpPr>
        <p:spPr/>
        <p:txBody>
          <a:bodyPr/>
          <a:lstStyle/>
          <a:p>
            <a:r>
              <a:rPr lang="en-US" dirty="0"/>
              <a:t>Read Chapters 3,4 and 5</a:t>
            </a:r>
          </a:p>
          <a:p>
            <a:r>
              <a:rPr lang="en-US" dirty="0"/>
              <a:t>EPA 400 is in this weeks module Resource Section</a:t>
            </a:r>
          </a:p>
        </p:txBody>
      </p:sp>
    </p:spTree>
    <p:extLst>
      <p:ext uri="{BB962C8B-B14F-4D97-AF65-F5344CB8AC3E}">
        <p14:creationId xmlns:p14="http://schemas.microsoft.com/office/powerpoint/2010/main" val="3461361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925838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manual cove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83036" y="1010292"/>
            <a:ext cx="2936363" cy="3783677"/>
          </a:xfrm>
        </p:spPr>
      </p:pic>
      <p:pic>
        <p:nvPicPr>
          <p:cNvPr id="4" name="Picture 3" descr="manual cover"/>
          <p:cNvPicPr>
            <a:picLocks noChangeAspect="1"/>
          </p:cNvPicPr>
          <p:nvPr/>
        </p:nvPicPr>
        <p:blipFill rotWithShape="1">
          <a:blip r:embed="rId3"/>
          <a:srcRect l="14429" t="18011" r="69389" b="12359"/>
          <a:stretch/>
        </p:blipFill>
        <p:spPr>
          <a:xfrm>
            <a:off x="152400" y="1066800"/>
            <a:ext cx="2808218" cy="3707477"/>
          </a:xfrm>
          <a:prstGeom prst="rect">
            <a:avLst/>
          </a:prstGeom>
        </p:spPr>
      </p:pic>
      <p:pic>
        <p:nvPicPr>
          <p:cNvPr id="2" name="Picture 1" descr="manual cover"/>
          <p:cNvPicPr>
            <a:picLocks noChangeAspect="1"/>
          </p:cNvPicPr>
          <p:nvPr/>
        </p:nvPicPr>
        <p:blipFill>
          <a:blip r:embed="rId4"/>
          <a:stretch>
            <a:fillRect/>
          </a:stretch>
        </p:blipFill>
        <p:spPr>
          <a:xfrm>
            <a:off x="6172297" y="1073330"/>
            <a:ext cx="2829997" cy="3657600"/>
          </a:xfrm>
          <a:prstGeom prst="rect">
            <a:avLst/>
          </a:prstGeom>
        </p:spPr>
      </p:pic>
      <p:sp>
        <p:nvSpPr>
          <p:cNvPr id="3" name="TextBox 2"/>
          <p:cNvSpPr txBox="1"/>
          <p:nvPr/>
        </p:nvSpPr>
        <p:spPr>
          <a:xfrm>
            <a:off x="304800" y="4876800"/>
            <a:ext cx="1981200" cy="461665"/>
          </a:xfrm>
          <a:prstGeom prst="rect">
            <a:avLst/>
          </a:prstGeom>
          <a:noFill/>
        </p:spPr>
        <p:txBody>
          <a:bodyPr wrap="square" rtlCol="0">
            <a:spAutoFit/>
          </a:bodyPr>
          <a:lstStyle/>
          <a:p>
            <a:r>
              <a:rPr lang="en-US" dirty="0"/>
              <a:t>ICRP 26/30</a:t>
            </a:r>
          </a:p>
        </p:txBody>
      </p:sp>
      <p:sp>
        <p:nvSpPr>
          <p:cNvPr id="7" name="TextBox 6"/>
          <p:cNvSpPr txBox="1"/>
          <p:nvPr/>
        </p:nvSpPr>
        <p:spPr>
          <a:xfrm>
            <a:off x="4343400" y="4953000"/>
            <a:ext cx="4038600" cy="461665"/>
          </a:xfrm>
          <a:prstGeom prst="rect">
            <a:avLst/>
          </a:prstGeom>
          <a:noFill/>
        </p:spPr>
        <p:txBody>
          <a:bodyPr wrap="square" rtlCol="0">
            <a:spAutoFit/>
          </a:bodyPr>
          <a:lstStyle/>
          <a:p>
            <a:r>
              <a:rPr lang="en-US" dirty="0"/>
              <a:t>ICRP 60</a:t>
            </a:r>
          </a:p>
        </p:txBody>
      </p:sp>
    </p:spTree>
    <p:extLst>
      <p:ext uri="{BB962C8B-B14F-4D97-AF65-F5344CB8AC3E}">
        <p14:creationId xmlns:p14="http://schemas.microsoft.com/office/powerpoint/2010/main" val="2898472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Differences-Inputs and Legal Basis</a:t>
            </a:r>
          </a:p>
        </p:txBody>
      </p:sp>
      <p:sp>
        <p:nvSpPr>
          <p:cNvPr id="5" name="Content Placeholder 4"/>
          <p:cNvSpPr>
            <a:spLocks noGrp="1"/>
          </p:cNvSpPr>
          <p:nvPr>
            <p:ph idx="1"/>
          </p:nvPr>
        </p:nvSpPr>
        <p:spPr>
          <a:xfrm>
            <a:off x="457200" y="1750010"/>
            <a:ext cx="8229600" cy="5008237"/>
          </a:xfrm>
        </p:spPr>
        <p:txBody>
          <a:bodyPr>
            <a:normAutofit/>
          </a:bodyPr>
          <a:lstStyle/>
          <a:p>
            <a:r>
              <a:rPr lang="en-US" sz="2800" dirty="0">
                <a:latin typeface="Times New Roman" panose="02020603050405020304" pitchFamily="18" charset="0"/>
                <a:cs typeface="Times New Roman" panose="02020603050405020304" pitchFamily="18" charset="0"/>
              </a:rPr>
              <a:t>Organizational Structure changed</a:t>
            </a:r>
          </a:p>
          <a:p>
            <a:pPr lvl="1"/>
            <a:r>
              <a:rPr lang="en-US" sz="2400" dirty="0">
                <a:latin typeface="Times New Roman" panose="02020603050405020304" pitchFamily="18" charset="0"/>
                <a:cs typeface="Times New Roman" panose="02020603050405020304" pitchFamily="18" charset="0"/>
              </a:rPr>
              <a:t>Kept 3  phases but consolidated action plans</a:t>
            </a:r>
          </a:p>
          <a:p>
            <a:r>
              <a:rPr lang="en-US" sz="2800" dirty="0">
                <a:latin typeface="Times New Roman" panose="02020603050405020304" pitchFamily="18" charset="0"/>
                <a:cs typeface="Times New Roman" panose="02020603050405020304" pitchFamily="18" charset="0"/>
              </a:rPr>
              <a:t>New PAG has input from: FRPCC, DOE, DOD, FEMA, NRC, HHS, CDC, FDA, USDA, DOL</a:t>
            </a:r>
          </a:p>
          <a:p>
            <a:r>
              <a:rPr lang="en-US" sz="2800" dirty="0">
                <a:latin typeface="Times New Roman" panose="02020603050405020304" pitchFamily="18" charset="0"/>
                <a:cs typeface="Times New Roman" panose="02020603050405020304" pitchFamily="18" charset="0"/>
              </a:rPr>
              <a:t>Legal Basis: 44 CFR 351 &amp; Exec Order 12656</a:t>
            </a:r>
          </a:p>
          <a:p>
            <a:r>
              <a:rPr lang="en-US" sz="2800"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7798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17237-C236-5C3A-681E-ADC4F77E0BD4}"/>
              </a:ext>
            </a:extLst>
          </p:cNvPr>
          <p:cNvSpPr>
            <a:spLocks noGrp="1"/>
          </p:cNvSpPr>
          <p:nvPr>
            <p:ph type="title"/>
          </p:nvPr>
        </p:nvSpPr>
        <p:spPr/>
        <p:txBody>
          <a:bodyPr/>
          <a:lstStyle/>
          <a:p>
            <a:r>
              <a:rPr lang="en-US" dirty="0"/>
              <a:t>EPA 400 Accepts Unanticipated Improvements</a:t>
            </a:r>
          </a:p>
        </p:txBody>
      </p:sp>
      <p:sp>
        <p:nvSpPr>
          <p:cNvPr id="3" name="Content Placeholder 2">
            <a:extLst>
              <a:ext uri="{FF2B5EF4-FFF2-40B4-BE49-F238E27FC236}">
                <a16:creationId xmlns:a16="http://schemas.microsoft.com/office/drawing/2014/main" id="{07CC09EC-5F77-2BC5-982B-3D4D422187EB}"/>
              </a:ext>
            </a:extLst>
          </p:cNvPr>
          <p:cNvSpPr>
            <a:spLocks noGrp="1"/>
          </p:cNvSpPr>
          <p:nvPr>
            <p:ph idx="1"/>
          </p:nvPr>
        </p:nvSpPr>
        <p:spPr/>
        <p:txBody>
          <a:bodyPr/>
          <a:lstStyle/>
          <a:p>
            <a:pPr marL="0" indent="0">
              <a:buNone/>
            </a:pPr>
            <a:r>
              <a:rPr lang="en-US" dirty="0"/>
              <a:t>EPA anticipates that radiological assessment methods will be periodically updated as improved models and methods become available. Therefore, readers are encouraged to review the current version of the FRMAC Assessment Manual to understand the most current, default radiological assessment methods. For simplicity, specific organ dose thresholds for evacuation and sheltering were removed from the Manual. </a:t>
            </a:r>
          </a:p>
        </p:txBody>
      </p:sp>
    </p:spTree>
    <p:extLst>
      <p:ext uri="{BB962C8B-B14F-4D97-AF65-F5344CB8AC3E}">
        <p14:creationId xmlns:p14="http://schemas.microsoft.com/office/powerpoint/2010/main" val="113222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in PAG’s</a:t>
            </a:r>
          </a:p>
        </p:txBody>
      </p:sp>
      <p:sp>
        <p:nvSpPr>
          <p:cNvPr id="3" name="Content Placeholder 2"/>
          <p:cNvSpPr>
            <a:spLocks noGrp="1"/>
          </p:cNvSpPr>
          <p:nvPr>
            <p:ph idx="1"/>
          </p:nvPr>
        </p:nvSpPr>
        <p:spPr>
          <a:xfrm>
            <a:off x="457200" y="1766637"/>
            <a:ext cx="8229600" cy="4484534"/>
          </a:xfrm>
        </p:spPr>
        <p:txBody>
          <a:bodyPr/>
          <a:lstStyle/>
          <a:p>
            <a:endParaRPr lang="en-US" dirty="0"/>
          </a:p>
        </p:txBody>
      </p:sp>
    </p:spTree>
    <p:extLst>
      <p:ext uri="{BB962C8B-B14F-4D97-AF65-F5344CB8AC3E}">
        <p14:creationId xmlns:p14="http://schemas.microsoft.com/office/powerpoint/2010/main" val="4093041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Phases</a:t>
            </a:r>
          </a:p>
        </p:txBody>
      </p:sp>
      <p:sp>
        <p:nvSpPr>
          <p:cNvPr id="3" name="Content Placeholder 2"/>
          <p:cNvSpPr>
            <a:spLocks noGrp="1"/>
          </p:cNvSpPr>
          <p:nvPr>
            <p:ph idx="1"/>
          </p:nvPr>
        </p:nvSpPr>
        <p:spPr>
          <a:xfrm>
            <a:off x="457200" y="1600200"/>
            <a:ext cx="8229600" cy="4484534"/>
          </a:xfrm>
        </p:spPr>
        <p:txBody>
          <a:bodyPr>
            <a:normAutofit/>
          </a:bodyPr>
          <a:lstStyle/>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2616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1: Emergency Phase</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Exposure pathways for early phase:</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Define radiation exposure areas</a:t>
            </a:r>
          </a:p>
        </p:txBody>
      </p:sp>
    </p:spTree>
    <p:extLst>
      <p:ext uri="{BB962C8B-B14F-4D97-AF65-F5344CB8AC3E}">
        <p14:creationId xmlns:p14="http://schemas.microsoft.com/office/powerpoint/2010/main" val="2073061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1: PAGs</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Principle Actions: Evacuation, Shelter-In-Place (SIP) and Admin of Potassium Iodide</a:t>
            </a:r>
          </a:p>
          <a:p>
            <a:r>
              <a:rPr lang="en-US" dirty="0">
                <a:latin typeface="Times New Roman" panose="02020603050405020304" pitchFamily="18" charset="0"/>
                <a:cs typeface="Times New Roman" panose="02020603050405020304" pitchFamily="18" charset="0"/>
              </a:rPr>
              <a:t>SIP and Evacuation:</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Supplementary admin of KI:</a:t>
            </a:r>
          </a:p>
          <a:p>
            <a:pPr lvl="1"/>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457578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1: Evacuation vs SIP</a:t>
            </a: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Evacuation</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SIP</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NEED TO TAKE INTO ACCOUNT EMERGENCY RESPONDER CAPABILITY IF RECOMMENDING EVACUATION</a:t>
            </a:r>
          </a:p>
          <a:p>
            <a:endParaRPr lang="en-US" dirty="0"/>
          </a:p>
        </p:txBody>
      </p:sp>
      <p:pic>
        <p:nvPicPr>
          <p:cNvPr id="4" name="Picture 3" descr="emergency phase PAGs"/>
          <p:cNvPicPr>
            <a:picLocks noChangeAspect="1"/>
          </p:cNvPicPr>
          <p:nvPr/>
        </p:nvPicPr>
        <p:blipFill>
          <a:blip r:embed="rId2"/>
          <a:stretch>
            <a:fillRect/>
          </a:stretch>
        </p:blipFill>
        <p:spPr>
          <a:xfrm>
            <a:off x="1905000" y="5207390"/>
            <a:ext cx="4419600" cy="1478616"/>
          </a:xfrm>
          <a:prstGeom prst="rect">
            <a:avLst/>
          </a:prstGeom>
        </p:spPr>
      </p:pic>
    </p:spTree>
    <p:extLst>
      <p:ext uri="{BB962C8B-B14F-4D97-AF65-F5344CB8AC3E}">
        <p14:creationId xmlns:p14="http://schemas.microsoft.com/office/powerpoint/2010/main" val="1394642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1: Pros of SIP</a:t>
            </a:r>
          </a:p>
        </p:txBody>
      </p:sp>
      <p:sp>
        <p:nvSpPr>
          <p:cNvPr id="3" name="Content Placeholder 2"/>
          <p:cNvSpPr>
            <a:spLocks noGrp="1"/>
          </p:cNvSpPr>
          <p:nvPr>
            <p:ph idx="1"/>
          </p:nvPr>
        </p:nvSpPr>
        <p:spPr>
          <a:xfrm>
            <a:off x="457200" y="1852934"/>
            <a:ext cx="3657600" cy="4273230"/>
          </a:xfrm>
        </p:spPr>
        <p:txBody>
          <a:bodyPr/>
          <a:lstStyle/>
          <a:p>
            <a:r>
              <a:rPr lang="en-US" sz="2800" dirty="0">
                <a:latin typeface="Times New Roman" panose="02020603050405020304" pitchFamily="18" charset="0"/>
                <a:cs typeface="Times New Roman" panose="02020603050405020304" pitchFamily="18" charset="0"/>
              </a:rPr>
              <a:t>Building and cars having shield coefficients.</a:t>
            </a:r>
          </a:p>
        </p:txBody>
      </p:sp>
      <p:pic>
        <p:nvPicPr>
          <p:cNvPr id="4" name="Picture 3" descr="protection factors for buildings"/>
          <p:cNvPicPr>
            <a:picLocks noChangeAspect="1"/>
          </p:cNvPicPr>
          <p:nvPr/>
        </p:nvPicPr>
        <p:blipFill rotWithShape="1">
          <a:blip r:embed="rId2"/>
          <a:srcRect l="10365" t="18103" r="66998" b="15231"/>
          <a:stretch/>
        </p:blipFill>
        <p:spPr>
          <a:xfrm>
            <a:off x="4178193" y="1852933"/>
            <a:ext cx="4508608" cy="4273230"/>
          </a:xfrm>
          <a:prstGeom prst="rect">
            <a:avLst/>
          </a:prstGeom>
        </p:spPr>
      </p:pic>
    </p:spTree>
    <p:extLst>
      <p:ext uri="{BB962C8B-B14F-4D97-AF65-F5344CB8AC3E}">
        <p14:creationId xmlns:p14="http://schemas.microsoft.com/office/powerpoint/2010/main" val="180205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Phase 1: KI Administration</a:t>
            </a:r>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Taken before exposure and only effective against radioiodine</a:t>
            </a:r>
          </a:p>
          <a:p>
            <a:r>
              <a:rPr lang="en-US" sz="2800" dirty="0">
                <a:latin typeface="Times New Roman" panose="02020603050405020304" pitchFamily="18" charset="0"/>
                <a:cs typeface="Times New Roman" panose="02020603050405020304" pitchFamily="18" charset="0"/>
              </a:rPr>
              <a:t>FDA Recommends</a:t>
            </a:r>
            <a:r>
              <a:rPr lang="en-US" sz="2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54787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1: Response Workers</a:t>
            </a:r>
          </a:p>
        </p:txBody>
      </p:sp>
      <p:sp>
        <p:nvSpPr>
          <p:cNvPr id="3" name="Content Placeholder 2"/>
          <p:cNvSpPr>
            <a:spLocks noGrp="1"/>
          </p:cNvSpPr>
          <p:nvPr>
            <p:ph idx="1"/>
          </p:nvPr>
        </p:nvSpPr>
        <p:spPr>
          <a:xfrm>
            <a:off x="304800" y="1600200"/>
            <a:ext cx="4495800" cy="5105400"/>
          </a:xfrm>
        </p:spPr>
        <p:txBody>
          <a:bodyPr/>
          <a:lstStyle/>
          <a:p>
            <a:r>
              <a:rPr lang="en-US" sz="1800" dirty="0">
                <a:latin typeface="Times New Roman" panose="02020603050405020304" pitchFamily="18" charset="0"/>
                <a:cs typeface="Times New Roman" panose="02020603050405020304" pitchFamily="18" charset="0"/>
              </a:rPr>
              <a:t>Maintain ALARA</a:t>
            </a:r>
          </a:p>
          <a:p>
            <a:r>
              <a:rPr lang="en-US" sz="1800" dirty="0">
                <a:latin typeface="Times New Roman" panose="02020603050405020304" pitchFamily="18" charset="0"/>
                <a:cs typeface="Times New Roman" panose="02020603050405020304" pitchFamily="18" charset="0"/>
              </a:rPr>
              <a:t>Follow 5, 10, 25 program</a:t>
            </a:r>
          </a:p>
          <a:p>
            <a:pPr lvl="1"/>
            <a:endParaRPr lang="en-US" sz="1800" dirty="0">
              <a:latin typeface="Times New Roman" panose="02020603050405020304" pitchFamily="18" charset="0"/>
              <a:cs typeface="Times New Roman" panose="02020603050405020304" pitchFamily="18" charset="0"/>
            </a:endParaRPr>
          </a:p>
          <a:p>
            <a:pPr lvl="1"/>
            <a:endParaRPr lang="en-US" sz="1800" dirty="0">
              <a:latin typeface="Times New Roman" panose="02020603050405020304" pitchFamily="18" charset="0"/>
              <a:cs typeface="Times New Roman" panose="02020603050405020304" pitchFamily="18" charset="0"/>
            </a:endParaRPr>
          </a:p>
          <a:p>
            <a:pPr lvl="1"/>
            <a:endParaRPr lang="en-US" sz="1800" dirty="0">
              <a:latin typeface="Times New Roman" panose="02020603050405020304" pitchFamily="18" charset="0"/>
              <a:cs typeface="Times New Roman" panose="02020603050405020304" pitchFamily="18" charset="0"/>
            </a:endParaRPr>
          </a:p>
          <a:p>
            <a:pPr lvl="1"/>
            <a:endParaRPr lang="en-US" sz="1800" dirty="0">
              <a:latin typeface="Times New Roman" panose="02020603050405020304" pitchFamily="18" charset="0"/>
              <a:cs typeface="Times New Roman" panose="02020603050405020304" pitchFamily="18" charset="0"/>
            </a:endParaRPr>
          </a:p>
          <a:p>
            <a:pPr lvl="1"/>
            <a:endParaRPr lang="en-US" sz="1800" dirty="0">
              <a:latin typeface="Times New Roman" panose="02020603050405020304" pitchFamily="18" charset="0"/>
              <a:cs typeface="Times New Roman" panose="02020603050405020304" pitchFamily="18" charset="0"/>
            </a:endParaRPr>
          </a:p>
          <a:p>
            <a:pPr lvl="1"/>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“Time-sensitive mission critical” activities</a:t>
            </a:r>
          </a:p>
          <a:p>
            <a:pPr lvl="1"/>
            <a:r>
              <a:rPr lang="en-US" sz="1400" dirty="0">
                <a:latin typeface="Times New Roman" panose="02020603050405020304" pitchFamily="18" charset="0"/>
                <a:cs typeface="Times New Roman" panose="02020603050405020304" pitchFamily="18" charset="0"/>
              </a:rPr>
              <a:t>NCRP 165: Responding to a Radiological or Nuclear Terrorism Incident: A Guide for Decision Makers </a:t>
            </a:r>
          </a:p>
          <a:p>
            <a:pPr lvl="1"/>
            <a:r>
              <a:rPr lang="en-US" sz="14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Also follow OSHA 29CFR, EPA 40CFR, NRC 10CFR 20, and DOE 10CFR 835</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pic>
        <p:nvPicPr>
          <p:cNvPr id="4" name="Picture 3" descr="table of radiation sickness symptoms"/>
          <p:cNvPicPr>
            <a:picLocks noChangeAspect="1"/>
          </p:cNvPicPr>
          <p:nvPr/>
        </p:nvPicPr>
        <p:blipFill>
          <a:blip r:embed="rId2"/>
          <a:stretch>
            <a:fillRect/>
          </a:stretch>
        </p:blipFill>
        <p:spPr>
          <a:xfrm>
            <a:off x="4648200" y="1752600"/>
            <a:ext cx="4265661" cy="3105150"/>
          </a:xfrm>
          <a:prstGeom prst="rect">
            <a:avLst/>
          </a:prstGeom>
        </p:spPr>
      </p:pic>
    </p:spTree>
    <p:extLst>
      <p:ext uri="{BB962C8B-B14F-4D97-AF65-F5344CB8AC3E}">
        <p14:creationId xmlns:p14="http://schemas.microsoft.com/office/powerpoint/2010/main" val="1864004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2 Intermediate Phase</a:t>
            </a:r>
          </a:p>
        </p:txBody>
      </p:sp>
      <p:sp>
        <p:nvSpPr>
          <p:cNvPr id="3" name="Content Placeholder 2"/>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Used when source and releases are under control and environmental measurements are available for decisions</a:t>
            </a:r>
          </a:p>
          <a:p>
            <a:r>
              <a:rPr lang="en-US" sz="2600" dirty="0">
                <a:latin typeface="Times New Roman" panose="02020603050405020304" pitchFamily="18" charset="0"/>
                <a:cs typeface="Times New Roman" panose="02020603050405020304" pitchFamily="18" charset="0"/>
              </a:rPr>
              <a:t>Exposure Pathways:</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236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2: PAGs</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Principle Protective Actions:</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Relocation is most effective but highly disruptive</a:t>
            </a:r>
          </a:p>
          <a:p>
            <a:pPr lvl="1"/>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846080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1219200"/>
          </a:xfrm>
        </p:spPr>
        <p:txBody>
          <a:bodyPr/>
          <a:lstStyle/>
          <a:p>
            <a:r>
              <a:rPr lang="en-US" dirty="0"/>
              <a:t>Phase 2: Relocation</a:t>
            </a:r>
          </a:p>
        </p:txBody>
      </p:sp>
      <p:sp>
        <p:nvSpPr>
          <p:cNvPr id="3" name="Content Placeholder 2"/>
          <p:cNvSpPr>
            <a:spLocks noGrp="1"/>
          </p:cNvSpPr>
          <p:nvPr>
            <p:ph idx="1"/>
          </p:nvPr>
        </p:nvSpPr>
        <p:spPr>
          <a:xfrm>
            <a:off x="457200" y="1524000"/>
            <a:ext cx="8077200" cy="2217930"/>
          </a:xfrm>
        </p:spPr>
        <p:txBody>
          <a:bodyPr>
            <a:normAutofit fontScale="85000" lnSpcReduction="20000"/>
          </a:bodyPr>
          <a:lstStyle/>
          <a:p>
            <a:r>
              <a:rPr lang="en-US" sz="2800" dirty="0">
                <a:latin typeface="Times New Roman" panose="02020603050405020304" pitchFamily="18" charset="0"/>
                <a:cs typeface="Times New Roman" panose="02020603050405020304" pitchFamily="18" charset="0"/>
              </a:rPr>
              <a:t>Relocation can be refined due to knowing environmental factors (Plume direction) and source size (&gt; 2 rem)</a:t>
            </a:r>
          </a:p>
          <a:p>
            <a:r>
              <a:rPr lang="en-US" sz="2800" dirty="0">
                <a:latin typeface="Times New Roman" panose="02020603050405020304" pitchFamily="18" charset="0"/>
                <a:cs typeface="Times New Roman" panose="02020603050405020304" pitchFamily="18" charset="0"/>
              </a:rPr>
              <a:t>Relocation from Phase 1 and 2 creates 3 groups:</a:t>
            </a:r>
          </a:p>
          <a:p>
            <a:pPr lvl="1"/>
            <a:r>
              <a:rPr lang="en-US" sz="2400" dirty="0">
                <a:latin typeface="Times New Roman" panose="02020603050405020304" pitchFamily="18" charset="0"/>
                <a:cs typeface="Times New Roman" panose="02020603050405020304" pitchFamily="18" charset="0"/>
              </a:rPr>
              <a:t>People who have already been evacuated</a:t>
            </a:r>
          </a:p>
          <a:p>
            <a:pPr lvl="1"/>
            <a:r>
              <a:rPr lang="en-US" sz="2400" dirty="0">
                <a:latin typeface="Times New Roman" panose="02020603050405020304" pitchFamily="18" charset="0"/>
                <a:cs typeface="Times New Roman" panose="02020603050405020304" pitchFamily="18" charset="0"/>
              </a:rPr>
              <a:t>People who were not previously evacuated, but should</a:t>
            </a:r>
          </a:p>
          <a:p>
            <a:pPr lvl="1"/>
            <a:r>
              <a:rPr lang="en-US" sz="2400" dirty="0">
                <a:latin typeface="Times New Roman" panose="02020603050405020304" pitchFamily="18" charset="0"/>
                <a:cs typeface="Times New Roman" panose="02020603050405020304" pitchFamily="18" charset="0"/>
              </a:rPr>
              <a:t>People who have been evacuated but reside outside of relocation, so may return home</a:t>
            </a:r>
          </a:p>
          <a:p>
            <a:endParaRPr lang="en-US" sz="2800" dirty="0">
              <a:latin typeface="Times New Roman" panose="02020603050405020304" pitchFamily="18" charset="0"/>
              <a:cs typeface="Times New Roman" panose="02020603050405020304" pitchFamily="18" charset="0"/>
            </a:endParaRPr>
          </a:p>
          <a:p>
            <a:pPr lvl="1"/>
            <a:endParaRPr lang="en-US" dirty="0"/>
          </a:p>
        </p:txBody>
      </p:sp>
      <p:pic>
        <p:nvPicPr>
          <p:cNvPr id="5" name="Picture 4" descr="keyhole plume EPZ"/>
          <p:cNvPicPr>
            <a:picLocks noChangeAspect="1"/>
          </p:cNvPicPr>
          <p:nvPr/>
        </p:nvPicPr>
        <p:blipFill>
          <a:blip r:embed="rId2"/>
          <a:stretch>
            <a:fillRect/>
          </a:stretch>
        </p:blipFill>
        <p:spPr>
          <a:xfrm>
            <a:off x="3200400" y="3429000"/>
            <a:ext cx="5200650" cy="3295650"/>
          </a:xfrm>
          <a:prstGeom prst="rect">
            <a:avLst/>
          </a:prstGeom>
        </p:spPr>
      </p:pic>
    </p:spTree>
    <p:extLst>
      <p:ext uri="{BB962C8B-B14F-4D97-AF65-F5344CB8AC3E}">
        <p14:creationId xmlns:p14="http://schemas.microsoft.com/office/powerpoint/2010/main" val="774698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2 PAGs</a:t>
            </a:r>
          </a:p>
        </p:txBody>
      </p:sp>
      <p:pic>
        <p:nvPicPr>
          <p:cNvPr id="4" name="Picture 3" descr="Phase 2 PAGs"/>
          <p:cNvPicPr>
            <a:picLocks noChangeAspect="1"/>
          </p:cNvPicPr>
          <p:nvPr/>
        </p:nvPicPr>
        <p:blipFill>
          <a:blip r:embed="rId2"/>
          <a:stretch>
            <a:fillRect/>
          </a:stretch>
        </p:blipFill>
        <p:spPr>
          <a:xfrm>
            <a:off x="1962150" y="1724025"/>
            <a:ext cx="5219700" cy="3409950"/>
          </a:xfrm>
          <a:prstGeom prst="rect">
            <a:avLst/>
          </a:prstGeom>
        </p:spPr>
      </p:pic>
    </p:spTree>
    <p:extLst>
      <p:ext uri="{BB962C8B-B14F-4D97-AF65-F5344CB8AC3E}">
        <p14:creationId xmlns:p14="http://schemas.microsoft.com/office/powerpoint/2010/main" val="3929371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r>
              <a:rPr lang="en-US" dirty="0">
                <a:latin typeface="Times New Roman" panose="02020603050405020304" pitchFamily="18" charset="0"/>
                <a:cs typeface="Times New Roman" panose="02020603050405020304" pitchFamily="18" charset="0"/>
              </a:rPr>
              <a:t> </a:t>
            </a:r>
          </a:p>
        </p:txBody>
      </p:sp>
      <p:sp>
        <p:nvSpPr>
          <p:cNvPr id="4" name="Content Placeholder 3"/>
          <p:cNvSpPr>
            <a:spLocks noGrp="1"/>
          </p:cNvSpPr>
          <p:nvPr>
            <p:ph sz="half" idx="2"/>
          </p:nvPr>
        </p:nvSpPr>
        <p:spPr/>
        <p:txBody>
          <a:bodyPr>
            <a:normAutofit/>
          </a:bodyPr>
          <a:lstStyle/>
          <a:p>
            <a:r>
              <a:rPr lang="en-US" dirty="0">
                <a:latin typeface="Times New Roman" panose="02020603050405020304" pitchFamily="18" charset="0"/>
                <a:cs typeface="Times New Roman" panose="02020603050405020304" pitchFamily="18" charset="0"/>
              </a:rPr>
              <a:t> </a:t>
            </a:r>
          </a:p>
        </p:txBody>
      </p:sp>
      <p:sp>
        <p:nvSpPr>
          <p:cNvPr id="2" name="Title 1"/>
          <p:cNvSpPr>
            <a:spLocks noGrp="1"/>
          </p:cNvSpPr>
          <p:nvPr>
            <p:ph type="title"/>
          </p:nvPr>
        </p:nvSpPr>
        <p:spPr/>
        <p:txBody>
          <a:bodyPr>
            <a:normAutofit/>
          </a:bodyPr>
          <a:lstStyle/>
          <a:p>
            <a:r>
              <a:rPr lang="en-US" dirty="0"/>
              <a:t>Phase 2: Priorities</a:t>
            </a:r>
          </a:p>
        </p:txBody>
      </p:sp>
    </p:spTree>
    <p:extLst>
      <p:ext uri="{BB962C8B-B14F-4D97-AF65-F5344CB8AC3E}">
        <p14:creationId xmlns:p14="http://schemas.microsoft.com/office/powerpoint/2010/main" val="1972382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3</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Long term clean up process</a:t>
            </a:r>
          </a:p>
          <a:p>
            <a:r>
              <a:rPr lang="en-US" dirty="0">
                <a:latin typeface="Times New Roman" panose="02020603050405020304" pitchFamily="18" charset="0"/>
                <a:cs typeface="Times New Roman" panose="02020603050405020304" pitchFamily="18" charset="0"/>
              </a:rPr>
              <a:t>Used for a nationally significant radiological incident</a:t>
            </a:r>
          </a:p>
          <a:p>
            <a:pPr lvl="1"/>
            <a:r>
              <a:rPr lang="en-US" dirty="0">
                <a:latin typeface="Times New Roman" panose="02020603050405020304" pitchFamily="18" charset="0"/>
                <a:cs typeface="Times New Roman" panose="02020603050405020304" pitchFamily="18" charset="0"/>
              </a:rPr>
              <a:t>NPP, RDD, IND</a:t>
            </a:r>
          </a:p>
          <a:p>
            <a:r>
              <a:rPr lang="en-US" dirty="0">
                <a:latin typeface="Times New Roman" panose="02020603050405020304" pitchFamily="18" charset="0"/>
                <a:cs typeface="Times New Roman" panose="02020603050405020304" pitchFamily="18" charset="0"/>
              </a:rPr>
              <a:t>PAGs will not be used to guide restoration of areas impacted</a:t>
            </a:r>
          </a:p>
          <a:p>
            <a:r>
              <a:rPr lang="en-US" dirty="0">
                <a:latin typeface="Times New Roman" panose="02020603050405020304" pitchFamily="18" charset="0"/>
                <a:cs typeface="Times New Roman" panose="02020603050405020304" pitchFamily="18" charset="0"/>
              </a:rPr>
              <a:t>Balance of restoring business, reducing radiation risks, radiation decay and managing contaminated waste</a:t>
            </a:r>
          </a:p>
          <a:p>
            <a:pPr marL="457200" lvl="1"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6457376"/>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26044</TotalTime>
  <Words>473</Words>
  <Application>Microsoft Office PowerPoint</Application>
  <PresentationFormat>On-screen Show (4:3)</PresentationFormat>
  <Paragraphs>93</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Default Design</vt:lpstr>
      <vt:lpstr>EPA 400: Protective Action Guide</vt:lpstr>
      <vt:lpstr>Reading Assignment</vt:lpstr>
      <vt:lpstr>Definitions</vt:lpstr>
      <vt:lpstr>PowerPoint Presentation</vt:lpstr>
      <vt:lpstr>Differences-Inputs and Legal Basis</vt:lpstr>
      <vt:lpstr>EPA 400 Accepts Unanticipated Improvements</vt:lpstr>
      <vt:lpstr>Differences in PAG’s</vt:lpstr>
      <vt:lpstr>Phases</vt:lpstr>
      <vt:lpstr>Phase 1: Emergency Phase</vt:lpstr>
      <vt:lpstr>Phase 1: PAGs</vt:lpstr>
      <vt:lpstr>Phase 1: Evacuation vs SIP</vt:lpstr>
      <vt:lpstr>Phase 1: Pros of SIP</vt:lpstr>
      <vt:lpstr>Phase 1: KI Administration</vt:lpstr>
      <vt:lpstr>Phase 1: Response Workers</vt:lpstr>
      <vt:lpstr>Phase 2 Intermediate Phase</vt:lpstr>
      <vt:lpstr>Phase 2: PAGs</vt:lpstr>
      <vt:lpstr>Phase 2: Relocation</vt:lpstr>
      <vt:lpstr>Phase 2 PAGs</vt:lpstr>
      <vt:lpstr>Phase 2: Priorities</vt:lpstr>
      <vt:lpstr>Phase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Nuclear Systems</dc:title>
  <dc:creator>William S. Charlton</dc:creator>
  <cp:lastModifiedBy>Marianno, Craig M</cp:lastModifiedBy>
  <cp:revision>184</cp:revision>
  <cp:lastPrinted>2016-03-24T18:34:55Z</cp:lastPrinted>
  <dcterms:created xsi:type="dcterms:W3CDTF">1996-09-30T18:28:10Z</dcterms:created>
  <dcterms:modified xsi:type="dcterms:W3CDTF">2026-10-14T04:09:16Z</dcterms:modified>
</cp:coreProperties>
</file>