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5" r:id="rId5"/>
    <p:sldId id="259" r:id="rId6"/>
    <p:sldId id="260" r:id="rId7"/>
    <p:sldId id="263" r:id="rId8"/>
    <p:sldId id="261" r:id="rId9"/>
    <p:sldId id="264" r:id="rId1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M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7" d="100"/>
          <a:sy n="117" d="100"/>
        </p:scale>
        <p:origin x="114" y="8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B628A21E-2415-47EF-AFB0-482732AB10D0}" type="datetimeFigureOut">
              <a:rPr lang="en-US"/>
              <a:pPr>
                <a:defRPr/>
              </a:pPr>
              <a:t>8/21/2023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2D3C7E3-248E-49CE-A6EB-19600DA0A82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0838ED3-3A78-4D91-88E8-397BAA6E7CA8}" type="datetimeFigureOut">
              <a:rPr lang="en-US"/>
              <a:pPr>
                <a:defRPr/>
              </a:pPr>
              <a:t>8/21/2023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296DB4-2B48-4097-8E4A-D22F89555D8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73A4000-BD9F-4F23-8602-353D9DBB3B7E}" type="datetimeFigureOut">
              <a:rPr lang="en-US"/>
              <a:pPr>
                <a:defRPr/>
              </a:pPr>
              <a:t>8/21/2023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355DD7-9827-4749-B630-B15F9A6D345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DFD48B5A-D1FC-4BCE-89F0-7A7168F7CE63}" type="datetimeFigureOut">
              <a:rPr lang="en-US"/>
              <a:pPr>
                <a:defRPr/>
              </a:pPr>
              <a:t>8/21/2023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D861DCC-43E0-4C6F-982D-740B4467A78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0E3C3E7-6AA0-49A3-96BF-1C3CF3150D3D}" type="datetimeFigureOut">
              <a:rPr lang="en-US"/>
              <a:pPr>
                <a:defRPr/>
              </a:pPr>
              <a:t>8/21/2023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EF44618-18AA-4C8D-9784-5E7E5C7F33E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FDF4381-0BC0-40A6-A3BC-9B060B064BBF}" type="datetimeFigureOut">
              <a:rPr lang="en-US"/>
              <a:pPr>
                <a:defRPr/>
              </a:pPr>
              <a:t>8/21/2023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83A8090-F8D8-4E22-BEAF-5EFF71F567B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BE5F580-0E97-40DE-AA5C-80BD850BAD03}" type="datetimeFigureOut">
              <a:rPr lang="en-US"/>
              <a:pPr>
                <a:defRPr/>
              </a:pPr>
              <a:t>8/21/2023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E00B92C-192A-43A1-AEE2-94C89E2207E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8A6BCB7-247C-498C-8B6E-440C9DC44BA9}" type="datetimeFigureOut">
              <a:rPr lang="en-US"/>
              <a:pPr>
                <a:defRPr/>
              </a:pPr>
              <a:t>8/21/2023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F81A80-2A17-4180-B503-939665AD1F6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7F160EC-FE56-4FF5-8663-B588171A6BC0}" type="datetimeFigureOut">
              <a:rPr lang="en-US"/>
              <a:pPr>
                <a:defRPr/>
              </a:pPr>
              <a:t>8/21/2023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93B186C-75AC-4D3A-9978-F113A1921AE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0AF532A-0046-4500-9DD7-9F0DE3176EFA}" type="datetimeFigureOut">
              <a:rPr lang="en-US"/>
              <a:pPr>
                <a:defRPr/>
              </a:pPr>
              <a:t>8/21/2023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81BA1CF-B4AA-402B-A177-2EF07C0A216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CC031B8-9C25-4496-BAFD-17877B4ABFC2}" type="datetimeFigureOut">
              <a:rPr lang="en-US"/>
              <a:pPr>
                <a:defRPr/>
              </a:pPr>
              <a:t>8/21/2023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DB57E6C-E525-4808-A8CE-D749588DB99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000">
            <a:alpha val="36000"/>
          </a:srgb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BDA4FCC2-8018-4F14-AF7C-960FE5169B3D}" type="datetimeFigureOut">
              <a:rPr lang="en-US"/>
              <a:pPr>
                <a:defRPr/>
              </a:pPr>
              <a:t>8/21/2023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52B68326-9E2E-47E4-AC4A-48C5FD98127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838200"/>
            <a:ext cx="7772400" cy="1470025"/>
          </a:xfrm>
        </p:spPr>
        <p:txBody>
          <a:bodyPr/>
          <a:lstStyle/>
          <a:p>
            <a:pPr eaLnBrk="1" hangingPunct="1"/>
            <a:r>
              <a:rPr lang="en-US" sz="4800" dirty="0"/>
              <a:t>Introduction: Emergency Response Health Physics</a:t>
            </a:r>
          </a:p>
        </p:txBody>
      </p:sp>
      <p:sp>
        <p:nvSpPr>
          <p:cNvPr id="3" name="Subtitle 2"/>
          <p:cNvSpPr>
            <a:spLocks noGrp="1"/>
          </p:cNvSpPr>
          <p:nvPr>
            <p:ph type="subTitle" idx="1"/>
          </p:nvPr>
        </p:nvSpPr>
        <p:spPr/>
        <p:txBody>
          <a:bodyPr rtlCol="0">
            <a:normAutofit/>
          </a:bodyPr>
          <a:lstStyle/>
          <a:p>
            <a:pPr eaLnBrk="1" fontAlgn="auto" hangingPunct="1">
              <a:spcAft>
                <a:spcPts val="0"/>
              </a:spcAft>
              <a:buFont typeface="Arial" pitchFamily="34" charset="0"/>
              <a:buNone/>
              <a:defRPr/>
            </a:pPr>
            <a:r>
              <a:rPr lang="en-US" dirty="0"/>
              <a:t>NUEN 657</a:t>
            </a:r>
          </a:p>
          <a:p>
            <a:pPr eaLnBrk="1" fontAlgn="auto" hangingPunct="1">
              <a:spcAft>
                <a:spcPts val="0"/>
              </a:spcAft>
              <a:buFont typeface="Arial" pitchFamily="34" charset="0"/>
              <a:buNone/>
              <a:defRPr/>
            </a:pPr>
            <a:r>
              <a:rPr lang="en-US"/>
              <a:t>Spring 2023</a:t>
            </a:r>
            <a:endParaRPr lang="en-US" dirty="0"/>
          </a:p>
          <a:p>
            <a:pPr eaLnBrk="1" fontAlgn="auto" hangingPunct="1">
              <a:spcAft>
                <a:spcPts val="0"/>
              </a:spcAft>
              <a:buFont typeface="Arial" pitchFamily="34" charset="0"/>
              <a:buNone/>
              <a:defRPr/>
            </a:pPr>
            <a:r>
              <a:rPr lang="en-US" dirty="0"/>
              <a:t>Dr. Craig M. Marianno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t>Pertinent Times, Dates and Places </a:t>
            </a:r>
          </a:p>
        </p:txBody>
      </p:sp>
      <p:sp>
        <p:nvSpPr>
          <p:cNvPr id="3075" name="Content Placeholder 2"/>
          <p:cNvSpPr>
            <a:spLocks noGrp="1"/>
          </p:cNvSpPr>
          <p:nvPr>
            <p:ph idx="1"/>
          </p:nvPr>
        </p:nvSpPr>
        <p:spPr/>
        <p:txBody>
          <a:bodyPr/>
          <a:lstStyle/>
          <a:p>
            <a:r>
              <a:rPr lang="en-US" dirty="0"/>
              <a:t>Monday/Wednesday 10:00 – 11:00, Zoom</a:t>
            </a:r>
          </a:p>
          <a:p>
            <a:pPr eaLnBrk="1" hangingPunct="1"/>
            <a:r>
              <a:rPr lang="en-US" dirty="0"/>
              <a:t>Office Hours: Thursday 15:00 – 17:00 Zoom </a:t>
            </a:r>
          </a:p>
          <a:p>
            <a:pPr lvl="1" eaLnBrk="1" hangingPunct="1"/>
            <a:r>
              <a:rPr lang="en-US" dirty="0"/>
              <a:t>https://tamu.zoom.us/j/96928116757</a:t>
            </a:r>
          </a:p>
          <a:p>
            <a:pPr eaLnBrk="1" hangingPunct="1"/>
            <a:r>
              <a:rPr lang="en-US" dirty="0">
                <a:latin typeface="Times" pitchFamily="18" charset="0"/>
              </a:rPr>
              <a:t>Important Dates:</a:t>
            </a:r>
          </a:p>
          <a:p>
            <a:pPr lvl="1" eaLnBrk="1" hangingPunct="1"/>
            <a:r>
              <a:rPr lang="en-US" dirty="0">
                <a:latin typeface="Times" pitchFamily="18" charset="0"/>
              </a:rPr>
              <a:t>Fall Break October 10, no class </a:t>
            </a:r>
          </a:p>
          <a:p>
            <a:pPr lvl="1" eaLnBrk="1" hangingPunct="1"/>
            <a:r>
              <a:rPr lang="en-US" dirty="0">
                <a:latin typeface="Times" pitchFamily="18" charset="0"/>
              </a:rPr>
              <a:t>Midterm – 10/12/2023</a:t>
            </a:r>
          </a:p>
          <a:p>
            <a:pPr lvl="1" eaLnBrk="1" hangingPunct="1"/>
            <a:r>
              <a:rPr lang="en-US" dirty="0">
                <a:latin typeface="Times" pitchFamily="18" charset="0"/>
              </a:rPr>
              <a:t>Thanksgiving – 11/23/2023</a:t>
            </a:r>
          </a:p>
          <a:p>
            <a:pPr eaLnBrk="1" hangingPunct="1"/>
            <a:r>
              <a:rPr lang="en-US" dirty="0">
                <a:latin typeface="Times" pitchFamily="18" charset="0"/>
              </a:rPr>
              <a:t>Final – TBD</a:t>
            </a:r>
          </a:p>
          <a:p>
            <a:pPr eaLnBrk="1" hangingPunct="1"/>
            <a:endParaRPr lang="en-US" dirty="0"/>
          </a:p>
          <a:p>
            <a:pPr eaLnBrk="1" hangingPunct="1">
              <a:buFont typeface="Arial" charse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dirty="0"/>
              <a:t>Texts</a:t>
            </a:r>
          </a:p>
        </p:txBody>
      </p:sp>
      <p:sp>
        <p:nvSpPr>
          <p:cNvPr id="5123" name="Content Placeholder 2"/>
          <p:cNvSpPr>
            <a:spLocks noGrp="1"/>
          </p:cNvSpPr>
          <p:nvPr>
            <p:ph idx="1"/>
          </p:nvPr>
        </p:nvSpPr>
        <p:spPr>
          <a:xfrm>
            <a:off x="488576" y="1066800"/>
            <a:ext cx="8229600" cy="4525963"/>
          </a:xfrm>
        </p:spPr>
        <p:txBody>
          <a:bodyPr/>
          <a:lstStyle/>
          <a:p>
            <a:pPr eaLnBrk="1" hangingPunct="1"/>
            <a:r>
              <a:rPr lang="en-US" sz="1600" dirty="0">
                <a:latin typeface="Times New Roman" panose="02020603050405020304" pitchFamily="18" charset="0"/>
                <a:cs typeface="Times New Roman" panose="02020603050405020304" pitchFamily="18" charset="0"/>
              </a:rPr>
              <a:t>There are no required texts that you have to buy.</a:t>
            </a:r>
          </a:p>
          <a:p>
            <a:pPr eaLnBrk="1" hangingPunct="1"/>
            <a:r>
              <a:rPr lang="en-US" sz="1600" dirty="0">
                <a:latin typeface="Times New Roman" panose="02020603050405020304" pitchFamily="18" charset="0"/>
                <a:cs typeface="Times New Roman" panose="02020603050405020304" pitchFamily="18" charset="0"/>
              </a:rPr>
              <a:t>Lecture notes will be the main source of information </a:t>
            </a:r>
          </a:p>
          <a:p>
            <a:pPr eaLnBrk="1" hangingPunct="1"/>
            <a:r>
              <a:rPr lang="en-US" sz="1600" dirty="0">
                <a:latin typeface="Times New Roman" panose="02020603050405020304" pitchFamily="18" charset="0"/>
                <a:cs typeface="Times New Roman" panose="02020603050405020304" pitchFamily="18" charset="0"/>
              </a:rPr>
              <a:t>You will be required to retrieve some references from the internet. </a:t>
            </a:r>
          </a:p>
          <a:p>
            <a:pPr eaLnBrk="1" hangingPunct="1"/>
            <a:r>
              <a:rPr lang="en-US" sz="1600" dirty="0">
                <a:latin typeface="Times New Roman" panose="02020603050405020304" pitchFamily="18" charset="0"/>
                <a:cs typeface="Times New Roman" panose="02020603050405020304" pitchFamily="18" charset="0"/>
              </a:rPr>
              <a:t>References used to produce the class include:</a:t>
            </a:r>
          </a:p>
          <a:p>
            <a:pPr marL="400050" lvl="1">
              <a:lnSpc>
                <a:spcPct val="107000"/>
              </a:lnSpc>
              <a:spcBef>
                <a:spcPts val="0"/>
              </a:spcBef>
              <a:spcAft>
                <a:spcPts val="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Department of Energy. Federal Radiological Monitoring and Assessment Center (FRMAC) Assessment Manual, Volume 1: Assessment Division Operations. SAND2023-04456 R. Federal Radiological Monitoring and Assessment Center, U.S. Department of Energy, Washington, D.C., (2023). </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Department of Energy. Federal Radiological Monitoring and Assessment Center (FRMAC) Assessment Manual, Volume 2: Overview and Methods. </a:t>
            </a:r>
            <a:r>
              <a:rPr lang="en-US" sz="1600" b="0" i="0" u="none" strike="noStrike" baseline="0" dirty="0">
                <a:solidFill>
                  <a:srgbClr val="000000"/>
                </a:solidFill>
                <a:latin typeface="Times New Roman" panose="02020603050405020304" pitchFamily="18" charset="0"/>
              </a:rPr>
              <a:t>SAND2023-04457 R</a:t>
            </a:r>
            <a:r>
              <a:rPr lang="en-US" sz="1800" dirty="0">
                <a:solidFill>
                  <a:srgbClr val="000000"/>
                </a:solidFill>
                <a:latin typeface="Times New Roman" panose="02020603050405020304" pitchFamily="18" charset="0"/>
              </a:rPr>
              <a:t>.</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Federal Radiological Monitoring and Assessment Center, U.S. Department of Energy, Washington, D.C., (2023).</a:t>
            </a:r>
          </a:p>
          <a:p>
            <a:pPr algn="l"/>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Department of Energy. Federal Radiological Monitoring and Assessment Center (FRMAC) Assessment Manual, Volume 3: Pre-Assessed Default Scenarios </a:t>
            </a:r>
            <a:r>
              <a:rPr lang="en-US" sz="1600" b="0" i="0" u="none" strike="noStrike" baseline="0" dirty="0">
                <a:solidFill>
                  <a:srgbClr val="000000"/>
                </a:solidFill>
                <a:latin typeface="Times New Roman" panose="02020603050405020304" pitchFamily="18" charset="0"/>
              </a:rPr>
              <a:t>SAND2023-04459 R</a:t>
            </a:r>
            <a:r>
              <a:rPr lang="en-US" sz="1800" dirty="0">
                <a:solidFill>
                  <a:srgbClr val="000000"/>
                </a:solidFill>
                <a:latin typeface="Times New Roman" panose="02020603050405020304" pitchFamily="18" charset="0"/>
              </a:rPr>
              <a:t>.</a:t>
            </a: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Federal Radiological Monitoring and Assessment Center, U.S. Department of Energy, Washington, D.C., (2023).</a:t>
            </a:r>
            <a:endParaRPr lang="en-US" sz="1600" dirty="0">
              <a:latin typeface="Times New Roman" panose="02020603050405020304" pitchFamily="18" charset="0"/>
              <a:cs typeface="Times New Roman" panose="02020603050405020304" pitchFamily="18" charset="0"/>
            </a:endParaRPr>
          </a:p>
          <a:p>
            <a:pPr marL="400050" lvl="1">
              <a:lnSpc>
                <a:spcPct val="107000"/>
              </a:lnSpc>
              <a:spcBef>
                <a:spcPts val="0"/>
              </a:spcBef>
              <a:spcAft>
                <a:spcPts val="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Environmental Protection Agency. The PAG Manual: Protective Action Guides and Planning Guidance for Radiological Incidents. EPA-400/R-17/001. Environmental Protection Agency Office of Radiation and Indoor Air Radiation Protection Division, Washington, DC, (2017)</a:t>
            </a:r>
          </a:p>
          <a:p>
            <a:pPr marL="400050" lvl="1">
              <a:lnSpc>
                <a:spcPct val="107000"/>
              </a:lnSpc>
              <a:spcBef>
                <a:spcPts val="0"/>
              </a:spcBef>
              <a:spcAft>
                <a:spcPts val="0"/>
              </a:spcAft>
            </a:pPr>
            <a:r>
              <a:rPr lang="en-US" sz="1600" i="1" dirty="0">
                <a:latin typeface="Times New Roman" panose="02020603050405020304" pitchFamily="18" charset="0"/>
                <a:cs typeface="Times New Roman" panose="02020603050405020304" pitchFamily="18" charset="0"/>
              </a:rPr>
              <a:t>Environmental Radioactivity 4</a:t>
            </a:r>
            <a:r>
              <a:rPr lang="en-US" sz="1600" i="1" baseline="30000" dirty="0">
                <a:latin typeface="Times New Roman" panose="02020603050405020304" pitchFamily="18" charset="0"/>
                <a:cs typeface="Times New Roman" panose="02020603050405020304" pitchFamily="18" charset="0"/>
              </a:rPr>
              <a:t>th</a:t>
            </a:r>
            <a:r>
              <a:rPr lang="en-US" sz="1600" i="1" dirty="0">
                <a:latin typeface="Times New Roman" panose="02020603050405020304" pitchFamily="18" charset="0"/>
                <a:cs typeface="Times New Roman" panose="02020603050405020304" pitchFamily="18" charset="0"/>
              </a:rPr>
              <a:t> Edition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Eisenbud</a:t>
            </a:r>
            <a:r>
              <a:rPr lang="en-US" sz="1600" dirty="0">
                <a:latin typeface="Times New Roman" panose="02020603050405020304" pitchFamily="18" charset="0"/>
                <a:cs typeface="Times New Roman" panose="02020603050405020304" pitchFamily="18" charset="0"/>
              </a:rPr>
              <a:t> M, Gesell T. 1997</a:t>
            </a:r>
          </a:p>
          <a:p>
            <a:pPr lvl="0"/>
            <a:endParaRPr lang="en-US" dirty="0"/>
          </a:p>
          <a:p>
            <a:pPr eaLnBrk="1" hangingPunct="1">
              <a:buFont typeface="Arial" charse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Materials and Resources</a:t>
            </a:r>
          </a:p>
        </p:txBody>
      </p:sp>
      <p:sp>
        <p:nvSpPr>
          <p:cNvPr id="3" name="Content Placeholder 2"/>
          <p:cNvSpPr>
            <a:spLocks noGrp="1"/>
          </p:cNvSpPr>
          <p:nvPr>
            <p:ph idx="1"/>
          </p:nvPr>
        </p:nvSpPr>
        <p:spPr/>
        <p:txBody>
          <a:bodyPr/>
          <a:lstStyle/>
          <a:p>
            <a:r>
              <a:rPr lang="en-US" dirty="0"/>
              <a:t>All course material will be on Canvas: canvas.tamu.edu</a:t>
            </a:r>
          </a:p>
          <a:p>
            <a:pPr lvl="1"/>
            <a:r>
              <a:rPr lang="en-US" dirty="0"/>
              <a:t>Lectures</a:t>
            </a:r>
          </a:p>
          <a:p>
            <a:pPr lvl="1"/>
            <a:r>
              <a:rPr lang="en-US" dirty="0"/>
              <a:t>Links</a:t>
            </a:r>
          </a:p>
          <a:p>
            <a:pPr lvl="1"/>
            <a:r>
              <a:rPr lang="en-US" dirty="0"/>
              <a:t>Documents</a:t>
            </a:r>
          </a:p>
          <a:p>
            <a:r>
              <a:rPr lang="en-US" dirty="0"/>
              <a:t>Lectures will be recorded and will be available on the Canvas course page in Mediasite.</a:t>
            </a:r>
          </a:p>
        </p:txBody>
      </p:sp>
    </p:spTree>
    <p:extLst>
      <p:ext uri="{BB962C8B-B14F-4D97-AF65-F5344CB8AC3E}">
        <p14:creationId xmlns:p14="http://schemas.microsoft.com/office/powerpoint/2010/main" val="20458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Lecture Style</a:t>
            </a:r>
          </a:p>
        </p:txBody>
      </p:sp>
      <p:sp>
        <p:nvSpPr>
          <p:cNvPr id="3" name="Content Placeholder 2"/>
          <p:cNvSpPr>
            <a:spLocks noGrp="1"/>
          </p:cNvSpPr>
          <p:nvPr>
            <p:ph idx="1"/>
          </p:nvPr>
        </p:nvSpPr>
        <p:spPr>
          <a:xfrm>
            <a:off x="428065" y="1219200"/>
            <a:ext cx="8229600" cy="4525963"/>
          </a:xfrm>
        </p:spPr>
        <p:txBody>
          <a:bodyPr rtlCol="0">
            <a:normAutofit lnSpcReduction="10000"/>
          </a:bodyPr>
          <a:lstStyle/>
          <a:p>
            <a:pPr eaLnBrk="1" fontAlgn="auto" hangingPunct="1">
              <a:spcAft>
                <a:spcPts val="0"/>
              </a:spcAft>
              <a:buFont typeface="Arial" pitchFamily="34" charset="0"/>
              <a:buChar char="•"/>
              <a:defRPr/>
            </a:pPr>
            <a:r>
              <a:rPr lang="en-US" dirty="0"/>
              <a:t>This class will be very informal and I encourage questions and discussion!</a:t>
            </a:r>
          </a:p>
          <a:p>
            <a:pPr eaLnBrk="1" fontAlgn="auto" hangingPunct="1">
              <a:spcAft>
                <a:spcPts val="0"/>
              </a:spcAft>
              <a:buFont typeface="Arial" pitchFamily="34" charset="0"/>
              <a:buChar char="•"/>
              <a:defRPr/>
            </a:pPr>
            <a:r>
              <a:rPr lang="en-US" dirty="0"/>
              <a:t>When I lecture use slides, but fill in pertinent information</a:t>
            </a:r>
          </a:p>
          <a:p>
            <a:pPr lvl="1" eaLnBrk="1" fontAlgn="auto" hangingPunct="1">
              <a:spcAft>
                <a:spcPts val="0"/>
              </a:spcAft>
              <a:buFont typeface="Arial" pitchFamily="34" charset="0"/>
              <a:buChar char="–"/>
              <a:defRPr/>
            </a:pPr>
            <a:r>
              <a:rPr lang="en-US" dirty="0"/>
              <a:t>Have your slides available before class (either hard copy or electronically) so you can fill in the information</a:t>
            </a:r>
          </a:p>
          <a:p>
            <a:pPr eaLnBrk="1" fontAlgn="auto" hangingPunct="1">
              <a:spcAft>
                <a:spcPts val="0"/>
              </a:spcAft>
              <a:buFont typeface="Arial" pitchFamily="34" charset="0"/>
              <a:buChar char="•"/>
              <a:defRPr/>
            </a:pPr>
            <a:r>
              <a:rPr lang="en-US" dirty="0"/>
              <a:t>There will be guest lectures (mostly on Zoom/Teams)</a:t>
            </a:r>
          </a:p>
          <a:p>
            <a:pPr eaLnBrk="1" fontAlgn="auto" hangingPunct="1">
              <a:spcAft>
                <a:spcPts val="0"/>
              </a:spcAft>
              <a:buFont typeface="Arial" pitchFamily="34" charset="0"/>
              <a:buChar char="•"/>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dirty="0"/>
              <a:t>Grading Criteria</a:t>
            </a:r>
          </a:p>
        </p:txBody>
      </p:sp>
      <p:sp>
        <p:nvSpPr>
          <p:cNvPr id="3" name="Content Placeholder 2"/>
          <p:cNvSpPr>
            <a:spLocks noGrp="1"/>
          </p:cNvSpPr>
          <p:nvPr>
            <p:ph idx="1"/>
          </p:nvPr>
        </p:nvSpPr>
        <p:spPr>
          <a:xfrm>
            <a:off x="466165" y="1219200"/>
            <a:ext cx="8229600" cy="4525963"/>
          </a:xfrm>
        </p:spPr>
        <p:txBody>
          <a:bodyPr rtlCol="0">
            <a:noAutofit/>
          </a:bodyPr>
          <a:lstStyle/>
          <a:p>
            <a:r>
              <a:rPr lang="en-US" sz="1600" b="1" dirty="0"/>
              <a:t>10% - Participation </a:t>
            </a:r>
            <a:r>
              <a:rPr lang="en-US" sz="1600" dirty="0"/>
              <a:t>– This class is heavily dependent on student and instructor interaction.  The student’s active participation in class is essential in understanding this subject.</a:t>
            </a:r>
          </a:p>
          <a:p>
            <a:r>
              <a:rPr lang="en-US" sz="1600" b="1" dirty="0"/>
              <a:t>15% - Quizzes – </a:t>
            </a:r>
            <a:r>
              <a:rPr lang="en-US" sz="1600" dirty="0"/>
              <a:t>Quick quizzes every so often to make sure you’re paying attention.</a:t>
            </a:r>
            <a:endParaRPr lang="en-US" sz="1600" b="1" dirty="0"/>
          </a:p>
          <a:p>
            <a:r>
              <a:rPr lang="en-US" sz="1600" b="1" dirty="0"/>
              <a:t>25% - Homework – </a:t>
            </a:r>
            <a:r>
              <a:rPr lang="en-US" sz="1600" dirty="0"/>
              <a:t>All homework assignments are due at 11:59 PM 1 week after they are assigned.  </a:t>
            </a:r>
          </a:p>
          <a:p>
            <a:pPr lvl="1"/>
            <a:r>
              <a:rPr lang="en-US" sz="1200" b="1" u="sng" dirty="0"/>
              <a:t>All homework can be turn in late, but at a cost of 10% per day.</a:t>
            </a:r>
          </a:p>
          <a:p>
            <a:r>
              <a:rPr lang="en-US" sz="1600" b="1" dirty="0"/>
              <a:t>25% - Midterm 10/12/2020 </a:t>
            </a:r>
            <a:r>
              <a:rPr lang="en-US" sz="1600" dirty="0"/>
              <a:t>– Test will cover topics from the beginning of the course until this date.</a:t>
            </a:r>
          </a:p>
          <a:p>
            <a:r>
              <a:rPr lang="en-US" sz="1600" b="1" dirty="0"/>
              <a:t>25% - Capstone/Final TBD</a:t>
            </a:r>
            <a:r>
              <a:rPr lang="en-US" sz="1600" dirty="0"/>
              <a:t>– Class will conclude with release scenario.  Students will be evaluated on how they use their knowledge to evaluate the situation and advise “decision makers” on the proper response to the situation.  This is an open book/computer/resource final.</a:t>
            </a:r>
          </a:p>
          <a:p>
            <a:r>
              <a:rPr lang="en-US" sz="1600" dirty="0"/>
              <a:t>The grades will be determined on the following scale: </a:t>
            </a:r>
          </a:p>
          <a:p>
            <a:pPr lvl="1" eaLnBrk="1" fontAlgn="auto" hangingPunct="1">
              <a:spcAft>
                <a:spcPts val="0"/>
              </a:spcAft>
              <a:buFont typeface="Arial" pitchFamily="34" charset="0"/>
              <a:buChar char="–"/>
              <a:defRPr/>
            </a:pPr>
            <a:r>
              <a:rPr lang="en-US" sz="1600" dirty="0"/>
              <a:t>A - 90.00-100.00 </a:t>
            </a:r>
          </a:p>
          <a:p>
            <a:pPr lvl="1" eaLnBrk="1" fontAlgn="auto" hangingPunct="1">
              <a:spcAft>
                <a:spcPts val="0"/>
              </a:spcAft>
              <a:buFont typeface="Arial" pitchFamily="34" charset="0"/>
              <a:buChar char="–"/>
              <a:defRPr/>
            </a:pPr>
            <a:r>
              <a:rPr lang="en-US" sz="1600" dirty="0"/>
              <a:t>B - 80.00-89.99 </a:t>
            </a:r>
          </a:p>
          <a:p>
            <a:pPr lvl="1" eaLnBrk="1" fontAlgn="auto" hangingPunct="1">
              <a:spcAft>
                <a:spcPts val="0"/>
              </a:spcAft>
              <a:buFont typeface="Arial" pitchFamily="34" charset="0"/>
              <a:buChar char="–"/>
              <a:defRPr/>
            </a:pPr>
            <a:r>
              <a:rPr lang="en-US" sz="1600" dirty="0"/>
              <a:t>C - 70.00-79.99 </a:t>
            </a:r>
          </a:p>
          <a:p>
            <a:pPr lvl="1" eaLnBrk="1" fontAlgn="auto" hangingPunct="1">
              <a:spcAft>
                <a:spcPts val="0"/>
              </a:spcAft>
              <a:buFont typeface="Arial" pitchFamily="34" charset="0"/>
              <a:buChar char="–"/>
              <a:defRPr/>
            </a:pPr>
            <a:r>
              <a:rPr lang="en-US" sz="1600" dirty="0"/>
              <a:t>D - 60.00-69.99 </a:t>
            </a:r>
          </a:p>
          <a:p>
            <a:pPr lvl="1" eaLnBrk="1" fontAlgn="auto" hangingPunct="1">
              <a:spcAft>
                <a:spcPts val="0"/>
              </a:spcAft>
              <a:buFont typeface="Arial" pitchFamily="34" charset="0"/>
              <a:buChar char="–"/>
              <a:defRPr/>
            </a:pPr>
            <a:r>
              <a:rPr lang="en-US" sz="1600" dirty="0"/>
              <a:t>F - 0.00-59.99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 Exercise</a:t>
            </a:r>
          </a:p>
        </p:txBody>
      </p:sp>
      <p:sp>
        <p:nvSpPr>
          <p:cNvPr id="3" name="Content Placeholder 2"/>
          <p:cNvSpPr>
            <a:spLocks noGrp="1"/>
          </p:cNvSpPr>
          <p:nvPr>
            <p:ph idx="1"/>
          </p:nvPr>
        </p:nvSpPr>
        <p:spPr/>
        <p:txBody>
          <a:bodyPr/>
          <a:lstStyle/>
          <a:p>
            <a:r>
              <a:rPr lang="en-US" dirty="0"/>
              <a:t>We will do some monitoring</a:t>
            </a:r>
          </a:p>
          <a:p>
            <a:r>
              <a:rPr lang="en-US" dirty="0"/>
              <a:t>In-situ (?)</a:t>
            </a:r>
          </a:p>
          <a:p>
            <a:r>
              <a:rPr lang="en-US" dirty="0"/>
              <a:t>Use the software package CBRN Responder to map data</a:t>
            </a:r>
          </a:p>
        </p:txBody>
      </p:sp>
    </p:spTree>
    <p:extLst>
      <p:ext uri="{BB962C8B-B14F-4D97-AF65-F5344CB8AC3E}">
        <p14:creationId xmlns:p14="http://schemas.microsoft.com/office/powerpoint/2010/main" val="2387118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dirty="0"/>
              <a:t>The Capstone</a:t>
            </a:r>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Char char="•"/>
              <a:defRPr/>
            </a:pPr>
            <a:r>
              <a:rPr lang="en-US" dirty="0"/>
              <a:t>A simulated radiological release</a:t>
            </a:r>
          </a:p>
          <a:p>
            <a:pPr eaLnBrk="1" fontAlgn="auto" hangingPunct="1">
              <a:spcAft>
                <a:spcPts val="0"/>
              </a:spcAft>
              <a:buFont typeface="Arial" pitchFamily="34" charset="0"/>
              <a:buChar char="•"/>
              <a:defRPr/>
            </a:pPr>
            <a:r>
              <a:rPr lang="en-US" dirty="0"/>
              <a:t>Students will be required to use their knowledge they gained over the year to:</a:t>
            </a:r>
          </a:p>
          <a:p>
            <a:pPr lvl="1" eaLnBrk="1" fontAlgn="auto" hangingPunct="1">
              <a:spcAft>
                <a:spcPts val="0"/>
              </a:spcAft>
              <a:buFont typeface="Arial" pitchFamily="34" charset="0"/>
              <a:buChar char="•"/>
              <a:defRPr/>
            </a:pPr>
            <a:r>
              <a:rPr lang="en-US" dirty="0"/>
              <a:t>Decide who should respond</a:t>
            </a:r>
          </a:p>
          <a:p>
            <a:pPr lvl="1" eaLnBrk="1" fontAlgn="auto" hangingPunct="1">
              <a:spcAft>
                <a:spcPts val="0"/>
              </a:spcAft>
              <a:buFont typeface="Arial" pitchFamily="34" charset="0"/>
              <a:buChar char="•"/>
              <a:defRPr/>
            </a:pPr>
            <a:r>
              <a:rPr lang="en-US" dirty="0"/>
              <a:t>Evaluate the radiological situation</a:t>
            </a:r>
          </a:p>
          <a:p>
            <a:pPr lvl="1" eaLnBrk="1" fontAlgn="auto" hangingPunct="1">
              <a:spcAft>
                <a:spcPts val="0"/>
              </a:spcAft>
              <a:buFont typeface="Arial" pitchFamily="34" charset="0"/>
              <a:buChar char="•"/>
              <a:defRPr/>
            </a:pPr>
            <a:r>
              <a:rPr lang="en-US" dirty="0"/>
              <a:t>Determine doses</a:t>
            </a:r>
          </a:p>
          <a:p>
            <a:pPr lvl="1" eaLnBrk="1" fontAlgn="auto" hangingPunct="1">
              <a:spcAft>
                <a:spcPts val="0"/>
              </a:spcAft>
              <a:buFont typeface="Arial" pitchFamily="34" charset="0"/>
              <a:buChar char="•"/>
              <a:defRPr/>
            </a:pPr>
            <a:r>
              <a:rPr lang="en-US" dirty="0"/>
              <a:t>Advise decision makers on the proper response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Rough Schedule</a:t>
            </a:r>
          </a:p>
        </p:txBody>
      </p:sp>
      <p:pic>
        <p:nvPicPr>
          <p:cNvPr id="5" name="Picture 4">
            <a:extLst>
              <a:ext uri="{FF2B5EF4-FFF2-40B4-BE49-F238E27FC236}">
                <a16:creationId xmlns:a16="http://schemas.microsoft.com/office/drawing/2014/main" id="{223A0E45-CA53-FCCA-603B-A9DD1B5FC943}"/>
              </a:ext>
            </a:extLst>
          </p:cNvPr>
          <p:cNvPicPr>
            <a:picLocks noChangeAspect="1"/>
          </p:cNvPicPr>
          <p:nvPr/>
        </p:nvPicPr>
        <p:blipFill>
          <a:blip r:embed="rId2"/>
          <a:stretch>
            <a:fillRect/>
          </a:stretch>
        </p:blipFill>
        <p:spPr>
          <a:xfrm>
            <a:off x="2590800" y="1143000"/>
            <a:ext cx="4177588" cy="5495925"/>
          </a:xfrm>
          <a:prstGeom prst="rect">
            <a:avLst/>
          </a:prstGeom>
        </p:spPr>
      </p:pic>
    </p:spTree>
    <p:extLst>
      <p:ext uri="{BB962C8B-B14F-4D97-AF65-F5344CB8AC3E}">
        <p14:creationId xmlns:p14="http://schemas.microsoft.com/office/powerpoint/2010/main" val="901848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5913</TotalTime>
  <Words>649</Words>
  <Application>Microsoft Office PowerPoint</Application>
  <PresentationFormat>On-screen Show (4:3)</PresentationFormat>
  <Paragraphs>59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vt:lpstr>
      <vt:lpstr>Times New Roman</vt:lpstr>
      <vt:lpstr>Office Theme</vt:lpstr>
      <vt:lpstr>Introduction: Emergency Response Health Physics</vt:lpstr>
      <vt:lpstr>Pertinent Times, Dates and Places </vt:lpstr>
      <vt:lpstr>Texts</vt:lpstr>
      <vt:lpstr>Course Materials and Resources</vt:lpstr>
      <vt:lpstr>Lecture Style</vt:lpstr>
      <vt:lpstr>Grading Criteria</vt:lpstr>
      <vt:lpstr>Field Exercise</vt:lpstr>
      <vt:lpstr>The Capstone</vt:lpstr>
      <vt:lpstr>Rough Schedule</vt:lpstr>
    </vt:vector>
  </TitlesOfParts>
  <Company>NTSOPS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Craig M. Marianno</dc:creator>
  <cp:lastModifiedBy>Marianno, Craig M</cp:lastModifiedBy>
  <cp:revision>77</cp:revision>
  <dcterms:created xsi:type="dcterms:W3CDTF">2009-12-17T18:51:06Z</dcterms:created>
  <dcterms:modified xsi:type="dcterms:W3CDTF">2023-08-21T17:27:25Z</dcterms:modified>
</cp:coreProperties>
</file>